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dvanced SQL Analytics for Real-World Customer &amp; Product Insights" id="{8B83C97C-6C87-461B-8109-CAE9D7D2DB90}">
          <p14:sldIdLst>
            <p14:sldId id="2561"/>
          </p14:sldIdLst>
        </p14:section>
        <p14:section name="Introduction" id="{3B36379A-3926-4941-99C1-7DEE15B2B138}">
          <p14:sldIdLst>
            <p14:sldId id="2562"/>
            <p14:sldId id="2563"/>
          </p14:sldIdLst>
        </p14:section>
        <p14:section name="Analytical Philosophy" id="{BB47923A-88F4-4F0E-A881-20DBC7E7BEE7}">
          <p14:sldIdLst>
            <p14:sldId id="2564"/>
            <p14:sldId id="2565"/>
          </p14:sldIdLst>
        </p14:section>
        <p14:section name="Data Model – Fact &amp; Dimension" id="{85C02BF4-76D1-454F-B91D-21599FC73D68}">
          <p14:sldIdLst>
            <p14:sldId id="2566"/>
            <p14:sldId id="2567"/>
          </p14:sldIdLst>
        </p14:section>
        <p14:section name="Customer Analytics Insights" id="{A91EF1CE-F752-44B2-853B-4844BD884ACE}">
          <p14:sldIdLst>
            <p14:sldId id="2568"/>
            <p14:sldId id="2569"/>
          </p14:sldIdLst>
        </p14:section>
        <p14:section name="Product Analytics Insights" id="{7E495CD3-9A95-439F-AEE9-26331288F56D}">
          <p14:sldIdLst>
            <p14:sldId id="2570"/>
            <p14:sldId id="2571"/>
          </p14:sldIdLst>
        </p14:section>
        <p14:section name="Temporal &amp; Ranking Analysis" id="{7ADCC8C5-21F3-4760-84F8-E55C7AFA2FF1}">
          <p14:sldIdLst>
            <p14:sldId id="2572"/>
            <p14:sldId id="2573"/>
          </p14:sldIdLst>
        </p14:section>
        <p14:section name="From SQL to Decision Impact" id="{C1BB999F-523F-4FE5-A7CF-5EEB9F4FBB09}">
          <p14:sldIdLst>
            <p14:sldId id="2574"/>
            <p14:sldId id="2575"/>
          </p14:sldIdLst>
        </p14:section>
        <p14:section name="Technical Skills &amp; Conclusion" id="{C0BFF06C-B35F-4BA5-9F86-4EDCEB497748}">
          <p14:sldIdLst>
            <p14:sldId id="2576"/>
            <p14:sldId id="2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275B3A-3F0F-4C07-B9B6-D2E2BBF8FAB2}" v="19" dt="2025-11-30T23:55:12.0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87" d="100"/>
          <a:sy n="87" d="100"/>
        </p:scale>
        <p:origin x="1428" y="39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ED4B29-D526-4D80-BC05-C7339847E654}"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999218BC-68C6-4F33-8578-2AAB65A008BA}">
      <dgm:prSet/>
      <dgm:spPr/>
      <dgm:t>
        <a:bodyPr/>
        <a:lstStyle/>
        <a:p>
          <a:pPr>
            <a:lnSpc>
              <a:spcPct val="100000"/>
            </a:lnSpc>
            <a:defRPr b="1"/>
          </a:pPr>
          <a:r>
            <a:rPr lang="en-US"/>
            <a:t>Product Performance Insights</a:t>
          </a:r>
        </a:p>
      </dgm:t>
    </dgm:pt>
    <dgm:pt modelId="{09C9C558-DAE4-4401-81A4-D4193E436E10}" type="parTrans" cxnId="{307CD832-C519-4662-BFAD-C5C55CFF583A}">
      <dgm:prSet/>
      <dgm:spPr/>
      <dgm:t>
        <a:bodyPr/>
        <a:lstStyle/>
        <a:p>
          <a:endParaRPr lang="en-US"/>
        </a:p>
      </dgm:t>
    </dgm:pt>
    <dgm:pt modelId="{FEB72A06-B147-463C-AE12-C413A405452B}" type="sibTrans" cxnId="{307CD832-C519-4662-BFAD-C5C55CFF583A}">
      <dgm:prSet/>
      <dgm:spPr/>
      <dgm:t>
        <a:bodyPr/>
        <a:lstStyle/>
        <a:p>
          <a:pPr>
            <a:lnSpc>
              <a:spcPct val="100000"/>
            </a:lnSpc>
            <a:defRPr b="1"/>
          </a:pPr>
          <a:endParaRPr lang="en-US"/>
        </a:p>
      </dgm:t>
    </dgm:pt>
    <dgm:pt modelId="{D659A80C-F0FE-4E6F-B601-C927105416B5}">
      <dgm:prSet/>
      <dgm:spPr/>
      <dgm:t>
        <a:bodyPr/>
        <a:lstStyle/>
        <a:p>
          <a:pPr>
            <a:lnSpc>
              <a:spcPct val="100000"/>
            </a:lnSpc>
          </a:pPr>
          <a:r>
            <a:rPr lang="en-US"/>
            <a:t>Identifies high, mid, and low-performing products to guide visibility, promotions, and lifecycle management.</a:t>
          </a:r>
        </a:p>
      </dgm:t>
    </dgm:pt>
    <dgm:pt modelId="{A7F53D95-0F03-4AE7-81A7-A82318C2364B}" type="parTrans" cxnId="{2A476C9C-AE21-4B62-9F9A-DE1610EAE4A3}">
      <dgm:prSet/>
      <dgm:spPr/>
      <dgm:t>
        <a:bodyPr/>
        <a:lstStyle/>
        <a:p>
          <a:endParaRPr lang="en-US"/>
        </a:p>
      </dgm:t>
    </dgm:pt>
    <dgm:pt modelId="{B8043FF4-6DCF-477C-AE0D-CCF054BC7CD3}" type="sibTrans" cxnId="{2A476C9C-AE21-4B62-9F9A-DE1610EAE4A3}">
      <dgm:prSet/>
      <dgm:spPr/>
      <dgm:t>
        <a:bodyPr/>
        <a:lstStyle/>
        <a:p>
          <a:endParaRPr lang="en-US"/>
        </a:p>
      </dgm:t>
    </dgm:pt>
    <dgm:pt modelId="{CA8EE379-9B94-4790-8746-1EC48C6A75C3}">
      <dgm:prSet/>
      <dgm:spPr/>
      <dgm:t>
        <a:bodyPr/>
        <a:lstStyle/>
        <a:p>
          <a:pPr>
            <a:lnSpc>
              <a:spcPct val="100000"/>
            </a:lnSpc>
            <a:defRPr b="1"/>
          </a:pPr>
          <a:r>
            <a:rPr lang="en-US"/>
            <a:t>Pricing Intelligence</a:t>
          </a:r>
        </a:p>
      </dgm:t>
    </dgm:pt>
    <dgm:pt modelId="{9EAEFD49-912D-420E-A1C2-BF3316A00195}" type="parTrans" cxnId="{B11897F1-08C1-4E8D-BD83-67F1DC752265}">
      <dgm:prSet/>
      <dgm:spPr/>
      <dgm:t>
        <a:bodyPr/>
        <a:lstStyle/>
        <a:p>
          <a:endParaRPr lang="en-US"/>
        </a:p>
      </dgm:t>
    </dgm:pt>
    <dgm:pt modelId="{93D1DD02-5905-496C-B7A3-3C6DEC0197A2}" type="sibTrans" cxnId="{B11897F1-08C1-4E8D-BD83-67F1DC752265}">
      <dgm:prSet/>
      <dgm:spPr/>
      <dgm:t>
        <a:bodyPr/>
        <a:lstStyle/>
        <a:p>
          <a:pPr>
            <a:lnSpc>
              <a:spcPct val="100000"/>
            </a:lnSpc>
            <a:defRPr b="1"/>
          </a:pPr>
          <a:endParaRPr lang="en-US"/>
        </a:p>
      </dgm:t>
    </dgm:pt>
    <dgm:pt modelId="{178C16B0-70BA-41CB-86C8-B0EA96C0269A}">
      <dgm:prSet/>
      <dgm:spPr/>
      <dgm:t>
        <a:bodyPr/>
        <a:lstStyle/>
        <a:p>
          <a:pPr>
            <a:lnSpc>
              <a:spcPct val="100000"/>
            </a:lnSpc>
          </a:pPr>
          <a:r>
            <a:rPr lang="en-US"/>
            <a:t>Uses average selling price per unit to measure profit density beyond sales volume.</a:t>
          </a:r>
        </a:p>
      </dgm:t>
    </dgm:pt>
    <dgm:pt modelId="{4CD588C6-E6AA-4220-8DEA-2B1E77B7DC89}" type="parTrans" cxnId="{2987147A-1C8A-400F-9B67-61FE8E93BEC1}">
      <dgm:prSet/>
      <dgm:spPr/>
      <dgm:t>
        <a:bodyPr/>
        <a:lstStyle/>
        <a:p>
          <a:endParaRPr lang="en-US"/>
        </a:p>
      </dgm:t>
    </dgm:pt>
    <dgm:pt modelId="{F69F0995-B4B3-4013-9DF4-4C3B4A45059E}" type="sibTrans" cxnId="{2987147A-1C8A-400F-9B67-61FE8E93BEC1}">
      <dgm:prSet/>
      <dgm:spPr/>
      <dgm:t>
        <a:bodyPr/>
        <a:lstStyle/>
        <a:p>
          <a:endParaRPr lang="en-US"/>
        </a:p>
      </dgm:t>
    </dgm:pt>
    <dgm:pt modelId="{C8DBB095-A3FB-450E-9609-B2170AE53604}">
      <dgm:prSet/>
      <dgm:spPr/>
      <dgm:t>
        <a:bodyPr/>
        <a:lstStyle/>
        <a:p>
          <a:pPr>
            <a:lnSpc>
              <a:spcPct val="100000"/>
            </a:lnSpc>
            <a:defRPr b="1"/>
          </a:pPr>
          <a:r>
            <a:rPr lang="en-US"/>
            <a:t>Strategic Optimization</a:t>
          </a:r>
        </a:p>
      </dgm:t>
    </dgm:pt>
    <dgm:pt modelId="{F40A9969-044B-4414-B668-D09BB072CEFC}" type="parTrans" cxnId="{064C55C2-2B2B-433B-858A-7E624F89BEA5}">
      <dgm:prSet/>
      <dgm:spPr/>
      <dgm:t>
        <a:bodyPr/>
        <a:lstStyle/>
        <a:p>
          <a:endParaRPr lang="en-US"/>
        </a:p>
      </dgm:t>
    </dgm:pt>
    <dgm:pt modelId="{C05A3B71-FC66-4137-8C5A-C7F14356E48B}" type="sibTrans" cxnId="{064C55C2-2B2B-433B-858A-7E624F89BEA5}">
      <dgm:prSet/>
      <dgm:spPr/>
      <dgm:t>
        <a:bodyPr/>
        <a:lstStyle/>
        <a:p>
          <a:endParaRPr lang="en-US"/>
        </a:p>
      </dgm:t>
    </dgm:pt>
    <dgm:pt modelId="{FCDB7DFC-3B63-4183-AAA0-6FE363BD3415}">
      <dgm:prSet/>
      <dgm:spPr/>
      <dgm:t>
        <a:bodyPr/>
        <a:lstStyle/>
        <a:p>
          <a:pPr>
            <a:lnSpc>
              <a:spcPct val="100000"/>
            </a:lnSpc>
          </a:pPr>
          <a:r>
            <a:rPr lang="en-US"/>
            <a:t>Enhances pricing, inventory, and marketing strategies using SQL-driven product analytics.</a:t>
          </a:r>
        </a:p>
      </dgm:t>
    </dgm:pt>
    <dgm:pt modelId="{22B48EF7-FB97-4456-8CA0-635966A4DA26}" type="parTrans" cxnId="{C68D1C3D-EE5E-46B5-A5AA-2DC95825B0FE}">
      <dgm:prSet/>
      <dgm:spPr/>
      <dgm:t>
        <a:bodyPr/>
        <a:lstStyle/>
        <a:p>
          <a:endParaRPr lang="en-US"/>
        </a:p>
      </dgm:t>
    </dgm:pt>
    <dgm:pt modelId="{2744F084-8464-4FF4-93BF-E3D644F54243}" type="sibTrans" cxnId="{C68D1C3D-EE5E-46B5-A5AA-2DC95825B0FE}">
      <dgm:prSet/>
      <dgm:spPr/>
      <dgm:t>
        <a:bodyPr/>
        <a:lstStyle/>
        <a:p>
          <a:endParaRPr lang="en-US"/>
        </a:p>
      </dgm:t>
    </dgm:pt>
    <dgm:pt modelId="{3FD78089-75AD-41C7-8374-28710D60E0E9}" type="pres">
      <dgm:prSet presAssocID="{35ED4B29-D526-4D80-BC05-C7339847E654}" presName="Name0" presStyleCnt="0">
        <dgm:presLayoutVars>
          <dgm:dir/>
          <dgm:resizeHandles val="exact"/>
        </dgm:presLayoutVars>
      </dgm:prSet>
      <dgm:spPr/>
    </dgm:pt>
    <dgm:pt modelId="{7F3387EE-95F7-41C7-978B-7AD8A7FEF044}" type="pres">
      <dgm:prSet presAssocID="{999218BC-68C6-4F33-8578-2AAB65A008BA}" presName="compNode" presStyleCnt="0"/>
      <dgm:spPr/>
    </dgm:pt>
    <dgm:pt modelId="{54B9B379-F985-47C6-8E50-33806E4E020A}" type="pres">
      <dgm:prSet presAssocID="{999218BC-68C6-4F33-8578-2AAB65A008BA}" presName="pictRect" presStyleLbl="revTx" presStyleIdx="0" presStyleCnt="6">
        <dgm:presLayoutVars>
          <dgm:chMax val="0"/>
          <dgm:bulletEnabled/>
        </dgm:presLayoutVars>
      </dgm:prSet>
      <dgm:spPr/>
    </dgm:pt>
    <dgm:pt modelId="{4C69DA0E-16AA-4CCD-8630-9BF5C22AC45E}" type="pres">
      <dgm:prSet presAssocID="{999218BC-68C6-4F33-8578-2AAB65A008BA}" presName="textRect" presStyleLbl="revTx" presStyleIdx="1" presStyleCnt="6">
        <dgm:presLayoutVars>
          <dgm:bulletEnabled/>
        </dgm:presLayoutVars>
      </dgm:prSet>
      <dgm:spPr/>
    </dgm:pt>
    <dgm:pt modelId="{BBB5F1A4-6722-475F-9DEA-E9D64C87CCEE}" type="pres">
      <dgm:prSet presAssocID="{FEB72A06-B147-463C-AE12-C413A405452B}" presName="sibTrans" presStyleLbl="sibTrans2D1" presStyleIdx="0" presStyleCnt="0"/>
      <dgm:spPr/>
    </dgm:pt>
    <dgm:pt modelId="{49534841-EF64-490D-8BB5-D0A92BE7A0F6}" type="pres">
      <dgm:prSet presAssocID="{CA8EE379-9B94-4790-8746-1EC48C6A75C3}" presName="compNode" presStyleCnt="0"/>
      <dgm:spPr/>
    </dgm:pt>
    <dgm:pt modelId="{000E66F2-8652-490F-9513-685271FF029F}" type="pres">
      <dgm:prSet presAssocID="{CA8EE379-9B94-4790-8746-1EC48C6A75C3}" presName="pictRect" presStyleLbl="revTx" presStyleIdx="2" presStyleCnt="6">
        <dgm:presLayoutVars>
          <dgm:chMax val="0"/>
          <dgm:bulletEnabled/>
        </dgm:presLayoutVars>
      </dgm:prSet>
      <dgm:spPr/>
    </dgm:pt>
    <dgm:pt modelId="{76819CAB-F522-41B3-BB31-E1B6CDF57A9B}" type="pres">
      <dgm:prSet presAssocID="{CA8EE379-9B94-4790-8746-1EC48C6A75C3}" presName="textRect" presStyleLbl="revTx" presStyleIdx="3" presStyleCnt="6">
        <dgm:presLayoutVars>
          <dgm:bulletEnabled/>
        </dgm:presLayoutVars>
      </dgm:prSet>
      <dgm:spPr/>
    </dgm:pt>
    <dgm:pt modelId="{E257D96D-BE3E-451F-8DDD-B7D52B5D1BD1}" type="pres">
      <dgm:prSet presAssocID="{93D1DD02-5905-496C-B7A3-3C6DEC0197A2}" presName="sibTrans" presStyleLbl="sibTrans2D1" presStyleIdx="0" presStyleCnt="0"/>
      <dgm:spPr/>
    </dgm:pt>
    <dgm:pt modelId="{7C78FD05-E9AC-4AB7-8BBB-A7716E651D2E}" type="pres">
      <dgm:prSet presAssocID="{C8DBB095-A3FB-450E-9609-B2170AE53604}" presName="compNode" presStyleCnt="0"/>
      <dgm:spPr/>
    </dgm:pt>
    <dgm:pt modelId="{E4252314-39EA-476C-90E8-9BB3CF1229A4}" type="pres">
      <dgm:prSet presAssocID="{C8DBB095-A3FB-450E-9609-B2170AE53604}" presName="pictRect" presStyleLbl="revTx" presStyleIdx="4" presStyleCnt="6">
        <dgm:presLayoutVars>
          <dgm:chMax val="0"/>
          <dgm:bulletEnabled/>
        </dgm:presLayoutVars>
      </dgm:prSet>
      <dgm:spPr/>
    </dgm:pt>
    <dgm:pt modelId="{ED59F614-6248-41A7-BF64-D5E8874A58F6}" type="pres">
      <dgm:prSet presAssocID="{C8DBB095-A3FB-450E-9609-B2170AE53604}" presName="textRect" presStyleLbl="revTx" presStyleIdx="5" presStyleCnt="6">
        <dgm:presLayoutVars>
          <dgm:bulletEnabled/>
        </dgm:presLayoutVars>
      </dgm:prSet>
      <dgm:spPr/>
    </dgm:pt>
  </dgm:ptLst>
  <dgm:cxnLst>
    <dgm:cxn modelId="{A7FEC602-2C3F-4A02-9036-19A9B930DA90}" type="presOf" srcId="{178C16B0-70BA-41CB-86C8-B0EA96C0269A}" destId="{76819CAB-F522-41B3-BB31-E1B6CDF57A9B}" srcOrd="0" destOrd="0" presId="urn:microsoft.com/office/officeart/2024/3/layout/hArchList1"/>
    <dgm:cxn modelId="{D92DE615-A074-457A-A6AC-8CE1B842ED39}" type="presOf" srcId="{35ED4B29-D526-4D80-BC05-C7339847E654}" destId="{3FD78089-75AD-41C7-8374-28710D60E0E9}" srcOrd="0" destOrd="0" presId="urn:microsoft.com/office/officeart/2024/3/layout/hArchList1"/>
    <dgm:cxn modelId="{70AFC82F-8099-4D32-932F-D41AF59684A1}" type="presOf" srcId="{D659A80C-F0FE-4E6F-B601-C927105416B5}" destId="{4C69DA0E-16AA-4CCD-8630-9BF5C22AC45E}" srcOrd="0" destOrd="0" presId="urn:microsoft.com/office/officeart/2024/3/layout/hArchList1"/>
    <dgm:cxn modelId="{307CD832-C519-4662-BFAD-C5C55CFF583A}" srcId="{35ED4B29-D526-4D80-BC05-C7339847E654}" destId="{999218BC-68C6-4F33-8578-2AAB65A008BA}" srcOrd="0" destOrd="0" parTransId="{09C9C558-DAE4-4401-81A4-D4193E436E10}" sibTransId="{FEB72A06-B147-463C-AE12-C413A405452B}"/>
    <dgm:cxn modelId="{C68D1C3D-EE5E-46B5-A5AA-2DC95825B0FE}" srcId="{C8DBB095-A3FB-450E-9609-B2170AE53604}" destId="{FCDB7DFC-3B63-4183-AAA0-6FE363BD3415}" srcOrd="0" destOrd="0" parTransId="{22B48EF7-FB97-4456-8CA0-635966A4DA26}" sibTransId="{2744F084-8464-4FF4-93BF-E3D644F54243}"/>
    <dgm:cxn modelId="{6B3C0F68-5334-472C-97FC-E9F347E095EC}" type="presOf" srcId="{FCDB7DFC-3B63-4183-AAA0-6FE363BD3415}" destId="{ED59F614-6248-41A7-BF64-D5E8874A58F6}" srcOrd="0" destOrd="0" presId="urn:microsoft.com/office/officeart/2024/3/layout/hArchList1"/>
    <dgm:cxn modelId="{8DD04270-A377-46CE-ADBB-CD2392659A65}" type="presOf" srcId="{93D1DD02-5905-496C-B7A3-3C6DEC0197A2}" destId="{E257D96D-BE3E-451F-8DDD-B7D52B5D1BD1}" srcOrd="0" destOrd="0" presId="urn:microsoft.com/office/officeart/2024/3/layout/hArchList1"/>
    <dgm:cxn modelId="{2987147A-1C8A-400F-9B67-61FE8E93BEC1}" srcId="{CA8EE379-9B94-4790-8746-1EC48C6A75C3}" destId="{178C16B0-70BA-41CB-86C8-B0EA96C0269A}" srcOrd="0" destOrd="0" parTransId="{4CD588C6-E6AA-4220-8DEA-2B1E77B7DC89}" sibTransId="{F69F0995-B4B3-4013-9DF4-4C3B4A45059E}"/>
    <dgm:cxn modelId="{DAF54286-4F23-4FCD-A9FD-08D130FA4224}" type="presOf" srcId="{999218BC-68C6-4F33-8578-2AAB65A008BA}" destId="{54B9B379-F985-47C6-8E50-33806E4E020A}" srcOrd="0" destOrd="0" presId="urn:microsoft.com/office/officeart/2024/3/layout/hArchList1"/>
    <dgm:cxn modelId="{FB647B91-1828-45CD-87E2-E42040EB29A5}" type="presOf" srcId="{CA8EE379-9B94-4790-8746-1EC48C6A75C3}" destId="{000E66F2-8652-490F-9513-685271FF029F}" srcOrd="0" destOrd="0" presId="urn:microsoft.com/office/officeart/2024/3/layout/hArchList1"/>
    <dgm:cxn modelId="{2A476C9C-AE21-4B62-9F9A-DE1610EAE4A3}" srcId="{999218BC-68C6-4F33-8578-2AAB65A008BA}" destId="{D659A80C-F0FE-4E6F-B601-C927105416B5}" srcOrd="0" destOrd="0" parTransId="{A7F53D95-0F03-4AE7-81A7-A82318C2364B}" sibTransId="{B8043FF4-6DCF-477C-AE0D-CCF054BC7CD3}"/>
    <dgm:cxn modelId="{F39049A7-80B0-4BF4-AB53-554E4D9BE500}" type="presOf" srcId="{C8DBB095-A3FB-450E-9609-B2170AE53604}" destId="{E4252314-39EA-476C-90E8-9BB3CF1229A4}" srcOrd="0" destOrd="0" presId="urn:microsoft.com/office/officeart/2024/3/layout/hArchList1"/>
    <dgm:cxn modelId="{064C55C2-2B2B-433B-858A-7E624F89BEA5}" srcId="{35ED4B29-D526-4D80-BC05-C7339847E654}" destId="{C8DBB095-A3FB-450E-9609-B2170AE53604}" srcOrd="2" destOrd="0" parTransId="{F40A9969-044B-4414-B668-D09BB072CEFC}" sibTransId="{C05A3B71-FC66-4137-8C5A-C7F14356E48B}"/>
    <dgm:cxn modelId="{B11897F1-08C1-4E8D-BD83-67F1DC752265}" srcId="{35ED4B29-D526-4D80-BC05-C7339847E654}" destId="{CA8EE379-9B94-4790-8746-1EC48C6A75C3}" srcOrd="1" destOrd="0" parTransId="{9EAEFD49-912D-420E-A1C2-BF3316A00195}" sibTransId="{93D1DD02-5905-496C-B7A3-3C6DEC0197A2}"/>
    <dgm:cxn modelId="{964B41F7-D591-453F-8C8E-040F3D213D5E}" type="presOf" srcId="{FEB72A06-B147-463C-AE12-C413A405452B}" destId="{BBB5F1A4-6722-475F-9DEA-E9D64C87CCEE}" srcOrd="0" destOrd="0" presId="urn:microsoft.com/office/officeart/2024/3/layout/hArchList1"/>
    <dgm:cxn modelId="{1E0D4B7D-E0E5-4694-9F39-278315959306}" type="presParOf" srcId="{3FD78089-75AD-41C7-8374-28710D60E0E9}" destId="{7F3387EE-95F7-41C7-978B-7AD8A7FEF044}" srcOrd="0" destOrd="0" presId="urn:microsoft.com/office/officeart/2024/3/layout/hArchList1"/>
    <dgm:cxn modelId="{F14BBBD4-C913-4B7C-9648-705FD04E184A}" type="presParOf" srcId="{7F3387EE-95F7-41C7-978B-7AD8A7FEF044}" destId="{54B9B379-F985-47C6-8E50-33806E4E020A}" srcOrd="0" destOrd="0" presId="urn:microsoft.com/office/officeart/2024/3/layout/hArchList1"/>
    <dgm:cxn modelId="{1AFD8C8E-A2DD-414A-B1BD-3419E7BA7563}" type="presParOf" srcId="{7F3387EE-95F7-41C7-978B-7AD8A7FEF044}" destId="{4C69DA0E-16AA-4CCD-8630-9BF5C22AC45E}" srcOrd="1" destOrd="0" presId="urn:microsoft.com/office/officeart/2024/3/layout/hArchList1"/>
    <dgm:cxn modelId="{6B883D2B-E739-4E75-AACE-262F0D477959}" type="presParOf" srcId="{3FD78089-75AD-41C7-8374-28710D60E0E9}" destId="{BBB5F1A4-6722-475F-9DEA-E9D64C87CCEE}" srcOrd="1" destOrd="0" presId="urn:microsoft.com/office/officeart/2024/3/layout/hArchList1"/>
    <dgm:cxn modelId="{B8E49F58-5E4D-47C9-9F9F-9B8D802F2982}" type="presParOf" srcId="{3FD78089-75AD-41C7-8374-28710D60E0E9}" destId="{49534841-EF64-490D-8BB5-D0A92BE7A0F6}" srcOrd="2" destOrd="0" presId="urn:microsoft.com/office/officeart/2024/3/layout/hArchList1"/>
    <dgm:cxn modelId="{2BB2A7B2-0BB3-4986-8E0F-5C80705018DE}" type="presParOf" srcId="{49534841-EF64-490D-8BB5-D0A92BE7A0F6}" destId="{000E66F2-8652-490F-9513-685271FF029F}" srcOrd="0" destOrd="0" presId="urn:microsoft.com/office/officeart/2024/3/layout/hArchList1"/>
    <dgm:cxn modelId="{A39F2BFE-BA8B-44F9-9CDE-465FA4BB9EDB}" type="presParOf" srcId="{49534841-EF64-490D-8BB5-D0A92BE7A0F6}" destId="{76819CAB-F522-41B3-BB31-E1B6CDF57A9B}" srcOrd="1" destOrd="0" presId="urn:microsoft.com/office/officeart/2024/3/layout/hArchList1"/>
    <dgm:cxn modelId="{17C251D4-0008-4894-8CC4-7CA56365FBD2}" type="presParOf" srcId="{3FD78089-75AD-41C7-8374-28710D60E0E9}" destId="{E257D96D-BE3E-451F-8DDD-B7D52B5D1BD1}" srcOrd="3" destOrd="0" presId="urn:microsoft.com/office/officeart/2024/3/layout/hArchList1"/>
    <dgm:cxn modelId="{44C1F0FB-94A9-404E-AC01-97DD2879D9ED}" type="presParOf" srcId="{3FD78089-75AD-41C7-8374-28710D60E0E9}" destId="{7C78FD05-E9AC-4AB7-8BBB-A7716E651D2E}" srcOrd="4" destOrd="0" presId="urn:microsoft.com/office/officeart/2024/3/layout/hArchList1"/>
    <dgm:cxn modelId="{944674A8-CD25-416E-B352-E0FB3FF439E1}" type="presParOf" srcId="{7C78FD05-E9AC-4AB7-8BBB-A7716E651D2E}" destId="{E4252314-39EA-476C-90E8-9BB3CF1229A4}" srcOrd="0" destOrd="0" presId="urn:microsoft.com/office/officeart/2024/3/layout/hArchList1"/>
    <dgm:cxn modelId="{0C3F1745-643F-4909-A80E-25539ECF765A}" type="presParOf" srcId="{7C78FD05-E9AC-4AB7-8BBB-A7716E651D2E}" destId="{ED59F614-6248-41A7-BF64-D5E8874A58F6}"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B9B379-F985-47C6-8E50-33806E4E020A}">
      <dsp:nvSpPr>
        <dsp:cNvPr id="0" name=""/>
        <dsp:cNvSpPr/>
      </dsp:nvSpPr>
      <dsp:spPr>
        <a:xfrm>
          <a:off x="0" y="0"/>
          <a:ext cx="3086099" cy="613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Product Performance Insights</a:t>
          </a:r>
        </a:p>
      </dsp:txBody>
      <dsp:txXfrm>
        <a:off x="0" y="0"/>
        <a:ext cx="3086099" cy="613681"/>
      </dsp:txXfrm>
    </dsp:sp>
    <dsp:sp modelId="{4C69DA0E-16AA-4CCD-8630-9BF5C22AC45E}">
      <dsp:nvSpPr>
        <dsp:cNvPr id="0" name=""/>
        <dsp:cNvSpPr/>
      </dsp:nvSpPr>
      <dsp:spPr>
        <a:xfrm>
          <a:off x="0" y="613681"/>
          <a:ext cx="3086099" cy="3453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Identifies high, mid, and low-performing products to guide visibility, promotions, and lifecycle management.</a:t>
          </a:r>
        </a:p>
      </dsp:txBody>
      <dsp:txXfrm>
        <a:off x="0" y="613681"/>
        <a:ext cx="3086099" cy="3453941"/>
      </dsp:txXfrm>
    </dsp:sp>
    <dsp:sp modelId="{000E66F2-8652-490F-9513-685271FF029F}">
      <dsp:nvSpPr>
        <dsp:cNvPr id="0" name=""/>
        <dsp:cNvSpPr/>
      </dsp:nvSpPr>
      <dsp:spPr>
        <a:xfrm>
          <a:off x="3394709" y="0"/>
          <a:ext cx="3086099" cy="613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Pricing Intelligence</a:t>
          </a:r>
        </a:p>
      </dsp:txBody>
      <dsp:txXfrm>
        <a:off x="3394709" y="0"/>
        <a:ext cx="3086099" cy="613681"/>
      </dsp:txXfrm>
    </dsp:sp>
    <dsp:sp modelId="{76819CAB-F522-41B3-BB31-E1B6CDF57A9B}">
      <dsp:nvSpPr>
        <dsp:cNvPr id="0" name=""/>
        <dsp:cNvSpPr/>
      </dsp:nvSpPr>
      <dsp:spPr>
        <a:xfrm>
          <a:off x="3394709" y="613681"/>
          <a:ext cx="3086099" cy="3453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Uses average selling price per unit to measure profit density beyond sales volume.</a:t>
          </a:r>
        </a:p>
      </dsp:txBody>
      <dsp:txXfrm>
        <a:off x="3394709" y="613681"/>
        <a:ext cx="3086099" cy="3453941"/>
      </dsp:txXfrm>
    </dsp:sp>
    <dsp:sp modelId="{E4252314-39EA-476C-90E8-9BB3CF1229A4}">
      <dsp:nvSpPr>
        <dsp:cNvPr id="0" name=""/>
        <dsp:cNvSpPr/>
      </dsp:nvSpPr>
      <dsp:spPr>
        <a:xfrm>
          <a:off x="6789419" y="0"/>
          <a:ext cx="3086099" cy="613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Strategic Optimization</a:t>
          </a:r>
        </a:p>
      </dsp:txBody>
      <dsp:txXfrm>
        <a:off x="6789419" y="0"/>
        <a:ext cx="3086099" cy="613681"/>
      </dsp:txXfrm>
    </dsp:sp>
    <dsp:sp modelId="{ED59F614-6248-41A7-BF64-D5E8874A58F6}">
      <dsp:nvSpPr>
        <dsp:cNvPr id="0" name=""/>
        <dsp:cNvSpPr/>
      </dsp:nvSpPr>
      <dsp:spPr>
        <a:xfrm>
          <a:off x="6789419" y="613681"/>
          <a:ext cx="3086099" cy="3453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Enhances pricing, inventory, and marketing strategies using SQL-driven product analytics.</a:t>
          </a:r>
        </a:p>
      </dsp:txBody>
      <dsp:txXfrm>
        <a:off x="6789419" y="613681"/>
        <a:ext cx="3086099" cy="3453941"/>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67986B-99AB-4A7D-BC2C-E227625FC040}" type="datetimeFigureOut">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009FCB-6915-4EEF-B6BB-81F3335E879F}" type="slidenum">
              <a:t>‹#›</a:t>
            </a:fld>
            <a:endParaRPr lang="en-US"/>
          </a:p>
        </p:txBody>
      </p:sp>
    </p:spTree>
    <p:extLst>
      <p:ext uri="{BB962C8B-B14F-4D97-AF65-F5344CB8AC3E}">
        <p14:creationId xmlns:p14="http://schemas.microsoft.com/office/powerpoint/2010/main" val="1549383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567ACAB3-3653-4D0E-80B9-746C90734EA7}" type="slidenum">
              <a:t>1</a:t>
            </a:fld>
            <a:endParaRPr lang="en-US"/>
          </a:p>
        </p:txBody>
      </p:sp>
    </p:spTree>
    <p:extLst>
      <p:ext uri="{BB962C8B-B14F-4D97-AF65-F5344CB8AC3E}">
        <p14:creationId xmlns:p14="http://schemas.microsoft.com/office/powerpoint/2010/main" val="1349645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Analytical Framework</a:t>
            </a:r>
          </a:p>
        </p:txBody>
      </p:sp>
      <p:sp>
        <p:nvSpPr>
          <p:cNvPr id="4" name="Slide Number Placeholder 3"/>
          <p:cNvSpPr>
            <a:spLocks noGrp="1"/>
          </p:cNvSpPr>
          <p:nvPr>
            <p:ph type="sldNum" sz="quarter" idx="5"/>
          </p:nvPr>
        </p:nvSpPr>
        <p:spPr/>
        <p:txBody>
          <a:bodyPr/>
          <a:lstStyle/>
          <a:p>
            <a:fld id="{567ACAB3-3653-4D0E-80B9-746C90734EA7}" type="slidenum">
              <a:t>2</a:t>
            </a:fld>
            <a:endParaRPr lang="en-US"/>
          </a:p>
        </p:txBody>
      </p:sp>
    </p:spTree>
    <p:extLst>
      <p:ext uri="{BB962C8B-B14F-4D97-AF65-F5344CB8AC3E}">
        <p14:creationId xmlns:p14="http://schemas.microsoft.com/office/powerpoint/2010/main" val="972261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introduces the concept of building a complete analytical system using SQL to generate actionable business insights from raw sales data. The framework goes beyond ad-hoc querying and focuses on creating structured layers of scripts, views, segmentation models, and temporal KPIs. The primary goal is to emulate the role of an analyst within an enterprise-grade BI environment, ensuring that SQL is not just a querying tool but a foundation for strategic decision-making. By leveraging SQL views and dimensional modeling, businesses can transform transactional data into meaningful patterns that inform marketing, sales, and operational strategies. This approach emphasizes the importance of data storytelling, where analytics is not merely about aggregation but about uncovering behavioral trends and opportunities hidden within customer and product data. The introduction sets the stage for understanding how SQL-driven analytics can bridge the gap between raw data and business intelligence, enabling organizations to optimize performance and enhance customer engagement.</a:t>
            </a:r>
          </a:p>
        </p:txBody>
      </p:sp>
      <p:sp>
        <p:nvSpPr>
          <p:cNvPr id="4" name="Slide Number Placeholder 3"/>
          <p:cNvSpPr>
            <a:spLocks noGrp="1"/>
          </p:cNvSpPr>
          <p:nvPr>
            <p:ph type="sldNum" sz="quarter" idx="5"/>
          </p:nvPr>
        </p:nvSpPr>
        <p:spPr/>
        <p:txBody>
          <a:bodyPr/>
          <a:lstStyle/>
          <a:p>
            <a:fld id="{567ACAB3-3653-4D0E-80B9-746C90734EA7}" type="slidenum">
              <a:t>3</a:t>
            </a:fld>
            <a:endParaRPr lang="en-US"/>
          </a:p>
        </p:txBody>
      </p:sp>
    </p:spTree>
    <p:extLst>
      <p:ext uri="{BB962C8B-B14F-4D97-AF65-F5344CB8AC3E}">
        <p14:creationId xmlns:p14="http://schemas.microsoft.com/office/powerpoint/2010/main" val="1411015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Principles of Data Storytelling</a:t>
            </a:r>
          </a:p>
        </p:txBody>
      </p:sp>
      <p:sp>
        <p:nvSpPr>
          <p:cNvPr id="4" name="Slide Number Placeholder 3"/>
          <p:cNvSpPr>
            <a:spLocks noGrp="1"/>
          </p:cNvSpPr>
          <p:nvPr>
            <p:ph type="sldNum" sz="quarter" idx="5"/>
          </p:nvPr>
        </p:nvSpPr>
        <p:spPr/>
        <p:txBody>
          <a:bodyPr/>
          <a:lstStyle/>
          <a:p>
            <a:fld id="{567ACAB3-3653-4D0E-80B9-746C90734EA7}" type="slidenum">
              <a:t>4</a:t>
            </a:fld>
            <a:endParaRPr lang="en-US"/>
          </a:p>
        </p:txBody>
      </p:sp>
    </p:spTree>
    <p:extLst>
      <p:ext uri="{BB962C8B-B14F-4D97-AF65-F5344CB8AC3E}">
        <p14:creationId xmlns:p14="http://schemas.microsoft.com/office/powerpoint/2010/main" val="4040924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analytical philosophy underpinning this project is rooted in the belief that business data reflects patterns, patterns reveal behavior, and behavior signals opportunity. This perspective transforms analytics from a mechanical process of summarizing numbers into a narrative-driven approach that uncovers insights and drives strategic actions. Storytelling through data means interpreting trends, anomalies, and correlations in a way that resonates with business objectives. For instance, identifying shifts in customer purchasing behavior can inform targeted marketing campaigns, while recognizing seasonal product trends can guide inventory planning. This philosophy advocates for a holistic view of data, where each metric contributes to a broader narrative about customer engagement, product performance, and market dynamics. By adopting this mindset, analysts can move beyond static reports and create dynamic insights that influence decision-making across departments. The emphasis is on clarity, relevance, and actionable intelligence derived from structured SQL analytics.</a:t>
            </a:r>
          </a:p>
        </p:txBody>
      </p:sp>
      <p:sp>
        <p:nvSpPr>
          <p:cNvPr id="4" name="Slide Number Placeholder 3"/>
          <p:cNvSpPr>
            <a:spLocks noGrp="1"/>
          </p:cNvSpPr>
          <p:nvPr>
            <p:ph type="sldNum" sz="quarter" idx="5"/>
          </p:nvPr>
        </p:nvSpPr>
        <p:spPr/>
        <p:txBody>
          <a:bodyPr/>
          <a:lstStyle/>
          <a:p>
            <a:fld id="{567ACAB3-3653-4D0E-80B9-746C90734EA7}" type="slidenum">
              <a:t>5</a:t>
            </a:fld>
            <a:endParaRPr lang="en-US"/>
          </a:p>
        </p:txBody>
      </p:sp>
    </p:spTree>
    <p:extLst>
      <p:ext uri="{BB962C8B-B14F-4D97-AF65-F5344CB8AC3E}">
        <p14:creationId xmlns:p14="http://schemas.microsoft.com/office/powerpoint/2010/main" val="1959679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Kimball-Style Architecture</a:t>
            </a:r>
          </a:p>
        </p:txBody>
      </p:sp>
      <p:sp>
        <p:nvSpPr>
          <p:cNvPr id="4" name="Slide Number Placeholder 3"/>
          <p:cNvSpPr>
            <a:spLocks noGrp="1"/>
          </p:cNvSpPr>
          <p:nvPr>
            <p:ph type="sldNum" sz="quarter" idx="5"/>
          </p:nvPr>
        </p:nvSpPr>
        <p:spPr/>
        <p:txBody>
          <a:bodyPr/>
          <a:lstStyle/>
          <a:p>
            <a:fld id="{567ACAB3-3653-4D0E-80B9-746C90734EA7}" type="slidenum">
              <a:t>6</a:t>
            </a:fld>
            <a:endParaRPr lang="en-US"/>
          </a:p>
        </p:txBody>
      </p:sp>
    </p:spTree>
    <p:extLst>
      <p:ext uri="{BB962C8B-B14F-4D97-AF65-F5344CB8AC3E}">
        <p14:creationId xmlns:p14="http://schemas.microsoft.com/office/powerpoint/2010/main" val="1225702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 model follows a Kimball-style dimensional architecture, which is widely recognized for its flexibility and scalability in analytical environments. At its core is the fact_sales table, which captures transactional details such as customer_key, product_key, order_date, quantity, and sales_amount. Surrounding this fact table are dimension tables like dim_customers and dim_product, which provide descriptive attributes for segmentation and analysis. This structure enables slicing and dicing of data across multiple dimensions, including customer demographics, product categories, time periods, and performance tiers. Analysts can easily compute metrics such as revenue by customer cluster, product profitability by category, and trends over time. The dimensional approach supports advanced analytics like cohort analysis, churn prediction, and pricing optimization. By organizing data into facts and dimensions, businesses gain a robust foundation for building SQL views and KPIs that deliver granular insights while maintaining consistency and integrity across reporting layers.</a:t>
            </a:r>
          </a:p>
        </p:txBody>
      </p:sp>
      <p:sp>
        <p:nvSpPr>
          <p:cNvPr id="4" name="Slide Number Placeholder 3"/>
          <p:cNvSpPr>
            <a:spLocks noGrp="1"/>
          </p:cNvSpPr>
          <p:nvPr>
            <p:ph type="sldNum" sz="quarter" idx="5"/>
          </p:nvPr>
        </p:nvSpPr>
        <p:spPr/>
        <p:txBody>
          <a:bodyPr/>
          <a:lstStyle/>
          <a:p>
            <a:fld id="{567ACAB3-3653-4D0E-80B9-746C90734EA7}" type="slidenum">
              <a:t>7</a:t>
            </a:fld>
            <a:endParaRPr lang="en-US"/>
          </a:p>
        </p:txBody>
      </p:sp>
    </p:spTree>
    <p:extLst>
      <p:ext uri="{BB962C8B-B14F-4D97-AF65-F5344CB8AC3E}">
        <p14:creationId xmlns:p14="http://schemas.microsoft.com/office/powerpoint/2010/main" val="1135314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Segmentation and Behavioral Metrics</a:t>
            </a:r>
          </a:p>
        </p:txBody>
      </p:sp>
      <p:sp>
        <p:nvSpPr>
          <p:cNvPr id="4" name="Slide Number Placeholder 3"/>
          <p:cNvSpPr>
            <a:spLocks noGrp="1"/>
          </p:cNvSpPr>
          <p:nvPr>
            <p:ph type="sldNum" sz="quarter" idx="5"/>
          </p:nvPr>
        </p:nvSpPr>
        <p:spPr/>
        <p:txBody>
          <a:bodyPr/>
          <a:lstStyle/>
          <a:p>
            <a:fld id="{567ACAB3-3653-4D0E-80B9-746C90734EA7}" type="slidenum">
              <a:t>8</a:t>
            </a:fld>
            <a:endParaRPr lang="en-US"/>
          </a:p>
        </p:txBody>
      </p:sp>
    </p:spTree>
    <p:extLst>
      <p:ext uri="{BB962C8B-B14F-4D97-AF65-F5344CB8AC3E}">
        <p14:creationId xmlns:p14="http://schemas.microsoft.com/office/powerpoint/2010/main" val="856856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Customer analytics focuses on understanding demographic distribution, economic value segmentation, and behavioral patterns. Age group classification—such as under 20, 20–29, 30–39, 40–49, and 50+—enables persona-driven marketing strategies. Economic segmentation divides customers into VIPs (high-value, long-term), Regulars (steady but moderate value), and New acquisitions, allowing tailored campaigns like loyalty rewards for VIPs and onboarding programs for new customers. Two critical behavioral metrics are lifespan and recency: lifespan measures the duration between a customer’s first and last purchase, while recency tracks the time since the last transaction. These metrics help identify dormant VIPs or active new enthusiasts, informing retention and reactivation strategies. By leveraging SQL to compute these insights, businesses can design targeted interventions that enhance customer lifetime value, reduce churn risk, and improve overall engagement. This structured approach ensures that marketing and sales efforts are data-driven and aligned with customer behavior.</a:t>
            </a:r>
          </a:p>
        </p:txBody>
      </p:sp>
      <p:sp>
        <p:nvSpPr>
          <p:cNvPr id="4" name="Slide Number Placeholder 3"/>
          <p:cNvSpPr>
            <a:spLocks noGrp="1"/>
          </p:cNvSpPr>
          <p:nvPr>
            <p:ph type="sldNum" sz="quarter" idx="5"/>
          </p:nvPr>
        </p:nvSpPr>
        <p:spPr/>
        <p:txBody>
          <a:bodyPr/>
          <a:lstStyle/>
          <a:p>
            <a:fld id="{567ACAB3-3653-4D0E-80B9-746C90734EA7}" type="slidenum">
              <a:t>9</a:t>
            </a:fld>
            <a:endParaRPr lang="en-US"/>
          </a:p>
        </p:txBody>
      </p:sp>
    </p:spTree>
    <p:extLst>
      <p:ext uri="{BB962C8B-B14F-4D97-AF65-F5344CB8AC3E}">
        <p14:creationId xmlns:p14="http://schemas.microsoft.com/office/powerpoint/2010/main" val="247810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Performance and Pricing Intelligence</a:t>
            </a:r>
          </a:p>
        </p:txBody>
      </p:sp>
      <p:sp>
        <p:nvSpPr>
          <p:cNvPr id="4" name="Slide Number Placeholder 3"/>
          <p:cNvSpPr>
            <a:spLocks noGrp="1"/>
          </p:cNvSpPr>
          <p:nvPr>
            <p:ph type="sldNum" sz="quarter" idx="5"/>
          </p:nvPr>
        </p:nvSpPr>
        <p:spPr/>
        <p:txBody>
          <a:bodyPr/>
          <a:lstStyle/>
          <a:p>
            <a:fld id="{567ACAB3-3653-4D0E-80B9-746C90734EA7}" type="slidenum">
              <a:t>10</a:t>
            </a:fld>
            <a:endParaRPr lang="en-US"/>
          </a:p>
        </p:txBody>
      </p:sp>
    </p:spTree>
    <p:extLst>
      <p:ext uri="{BB962C8B-B14F-4D97-AF65-F5344CB8AC3E}">
        <p14:creationId xmlns:p14="http://schemas.microsoft.com/office/powerpoint/2010/main" val="1682811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Product analytics provides visibility into which items drive revenue and which require strategic adjustments. High-performing products warrant premium visibility, promotional prioritization, and stock availability focus, as they contribute significantly to overall profitability. Mid-performing products present opportunities for price optimization, targeted upselling, and bundling strategies to boost their contribution. Low-performing products require lifecycle reviews, discontinuation analysis, or alternative placement to minimize resource waste. Pricing intelligence, calculated as average selling price per unit (sales_amount ÷ quantity), offers insights into profit density beyond mere sales volume. For example, a product selling 100 units at $15 may outperform one selling 1000 units at $2 in terms of profitability. These analyses enable businesses to refine pricing strategies, optimize inventory, and allocate marketing resources effectively. SQL-driven product insights thus become a cornerstone for portfolio optimization and revenue growth.</a:t>
            </a:r>
          </a:p>
        </p:txBody>
      </p:sp>
      <p:sp>
        <p:nvSpPr>
          <p:cNvPr id="4" name="Slide Number Placeholder 3"/>
          <p:cNvSpPr>
            <a:spLocks noGrp="1"/>
          </p:cNvSpPr>
          <p:nvPr>
            <p:ph type="sldNum" sz="quarter" idx="5"/>
          </p:nvPr>
        </p:nvSpPr>
        <p:spPr/>
        <p:txBody>
          <a:bodyPr/>
          <a:lstStyle/>
          <a:p>
            <a:fld id="{567ACAB3-3653-4D0E-80B9-746C90734EA7}" type="slidenum">
              <a:t>11</a:t>
            </a:fld>
            <a:endParaRPr lang="en-US"/>
          </a:p>
        </p:txBody>
      </p:sp>
    </p:spTree>
    <p:extLst>
      <p:ext uri="{BB962C8B-B14F-4D97-AF65-F5344CB8AC3E}">
        <p14:creationId xmlns:p14="http://schemas.microsoft.com/office/powerpoint/2010/main" val="2567861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Seasonality, Rankings, and Growth Patterns</a:t>
            </a:r>
          </a:p>
        </p:txBody>
      </p:sp>
      <p:sp>
        <p:nvSpPr>
          <p:cNvPr id="4" name="Slide Number Placeholder 3"/>
          <p:cNvSpPr>
            <a:spLocks noGrp="1"/>
          </p:cNvSpPr>
          <p:nvPr>
            <p:ph type="sldNum" sz="quarter" idx="5"/>
          </p:nvPr>
        </p:nvSpPr>
        <p:spPr/>
        <p:txBody>
          <a:bodyPr/>
          <a:lstStyle/>
          <a:p>
            <a:fld id="{567ACAB3-3653-4D0E-80B9-746C90734EA7}" type="slidenum">
              <a:t>12</a:t>
            </a:fld>
            <a:endParaRPr lang="en-US"/>
          </a:p>
        </p:txBody>
      </p:sp>
    </p:spTree>
    <p:extLst>
      <p:ext uri="{BB962C8B-B14F-4D97-AF65-F5344CB8AC3E}">
        <p14:creationId xmlns:p14="http://schemas.microsoft.com/office/powerpoint/2010/main" val="3478547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Temporal analysis uncovers patterns related to seasonality, customer loyalty over time, and product lifecycle dynamics. By examining sales trends across months or quarters, businesses can identify peak demand periods and plan inventory accordingly. Ranking analysis highlights top-performing customers and products, enabling strategic resource allocation toward high-value segments. Contribution analysis, expressed as percentages of total sales, provides a part-to-whole perspective essential for portfolio optimization. Additionally, cumulative metrics—such as cumulative sales, quantity, and customer growth—reveal momentum and long-term performance trends. These insights empower organizations to anticipate market shifts, forecast revenue trajectories, and design proactive strategies. SQL-based temporal and ranking analytics thus serve as powerful tools for aligning operational decisions with evolving business dynamics.</a:t>
            </a:r>
          </a:p>
        </p:txBody>
      </p:sp>
      <p:sp>
        <p:nvSpPr>
          <p:cNvPr id="4" name="Slide Number Placeholder 3"/>
          <p:cNvSpPr>
            <a:spLocks noGrp="1"/>
          </p:cNvSpPr>
          <p:nvPr>
            <p:ph type="sldNum" sz="quarter" idx="5"/>
          </p:nvPr>
        </p:nvSpPr>
        <p:spPr/>
        <p:txBody>
          <a:bodyPr/>
          <a:lstStyle/>
          <a:p>
            <a:fld id="{567ACAB3-3653-4D0E-80B9-746C90734EA7}" type="slidenum">
              <a:t>13</a:t>
            </a:fld>
            <a:endParaRPr lang="en-US"/>
          </a:p>
        </p:txBody>
      </p:sp>
    </p:spTree>
    <p:extLst>
      <p:ext uri="{BB962C8B-B14F-4D97-AF65-F5344CB8AC3E}">
        <p14:creationId xmlns:p14="http://schemas.microsoft.com/office/powerpoint/2010/main" val="17702243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Outcomes Enabled by Analytics</a:t>
            </a:r>
          </a:p>
        </p:txBody>
      </p:sp>
      <p:sp>
        <p:nvSpPr>
          <p:cNvPr id="4" name="Slide Number Placeholder 3"/>
          <p:cNvSpPr>
            <a:spLocks noGrp="1"/>
          </p:cNvSpPr>
          <p:nvPr>
            <p:ph type="sldNum" sz="quarter" idx="5"/>
          </p:nvPr>
        </p:nvSpPr>
        <p:spPr/>
        <p:txBody>
          <a:bodyPr/>
          <a:lstStyle/>
          <a:p>
            <a:fld id="{567ACAB3-3653-4D0E-80B9-746C90734EA7}" type="slidenum">
              <a:t>14</a:t>
            </a:fld>
            <a:endParaRPr lang="en-US"/>
          </a:p>
        </p:txBody>
      </p:sp>
    </p:spTree>
    <p:extLst>
      <p:ext uri="{BB962C8B-B14F-4D97-AF65-F5344CB8AC3E}">
        <p14:creationId xmlns:p14="http://schemas.microsoft.com/office/powerpoint/2010/main" val="3418845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ultimate objective of SQL-driven analytics is to translate data insights into tangible business outcomes. By identifying best customers and forecasting churn, organizations can enhance retention and maximize customer lifetime value. Inventory optimization and pricing strategies informed by product performance data reduce waste and improve profitability. Customer engagement initiatives, such as loyalty programs and targeted campaigns, become more effective when grounded in behavioral insights. Furthermore, understanding contribution percentages and cumulative growth patterns supports strategic planning and resource allocation. These decision impacts demonstrate the value of a structured analytical framework that integrates technical rigor with business relevance. SQL thus evolves from a querying language into a strategic enabler of enterprise intelligence.</a:t>
            </a:r>
          </a:p>
        </p:txBody>
      </p:sp>
      <p:sp>
        <p:nvSpPr>
          <p:cNvPr id="4" name="Slide Number Placeholder 3"/>
          <p:cNvSpPr>
            <a:spLocks noGrp="1"/>
          </p:cNvSpPr>
          <p:nvPr>
            <p:ph type="sldNum" sz="quarter" idx="5"/>
          </p:nvPr>
        </p:nvSpPr>
        <p:spPr/>
        <p:txBody>
          <a:bodyPr/>
          <a:lstStyle/>
          <a:p>
            <a:fld id="{567ACAB3-3653-4D0E-80B9-746C90734EA7}" type="slidenum">
              <a:t>15</a:t>
            </a:fld>
            <a:endParaRPr lang="en-US"/>
          </a:p>
        </p:txBody>
      </p:sp>
    </p:spTree>
    <p:extLst>
      <p:ext uri="{BB962C8B-B14F-4D97-AF65-F5344CB8AC3E}">
        <p14:creationId xmlns:p14="http://schemas.microsoft.com/office/powerpoint/2010/main" val="2625531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SQL Architecture and Analytical Expertise</a:t>
            </a:r>
          </a:p>
        </p:txBody>
      </p:sp>
      <p:sp>
        <p:nvSpPr>
          <p:cNvPr id="4" name="Slide Number Placeholder 3"/>
          <p:cNvSpPr>
            <a:spLocks noGrp="1"/>
          </p:cNvSpPr>
          <p:nvPr>
            <p:ph type="sldNum" sz="quarter" idx="5"/>
          </p:nvPr>
        </p:nvSpPr>
        <p:spPr/>
        <p:txBody>
          <a:bodyPr/>
          <a:lstStyle/>
          <a:p>
            <a:fld id="{567ACAB3-3653-4D0E-80B9-746C90734EA7}" type="slidenum">
              <a:t>16</a:t>
            </a:fld>
            <a:endParaRPr lang="en-US"/>
          </a:p>
        </p:txBody>
      </p:sp>
    </p:spTree>
    <p:extLst>
      <p:ext uri="{BB962C8B-B14F-4D97-AF65-F5344CB8AC3E}">
        <p14:creationId xmlns:p14="http://schemas.microsoft.com/office/powerpoint/2010/main" val="2555736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project showcases advanced technical skills in SQL architecture, including the use of Common Table Expressions (CTEs), aggregation pipelines, CASE statements, view creation, date functions, and join optimization. Null-safe division operations ensure data integrity in KPI calculations. On the analytical side, the framework demonstrates expertise in KPI engineering, segmentation logic, behavioral clustering, and temporal modeling. These capabilities enable the transformation of raw transactional data into actionable business knowledge. The conclusion emphasizes that SQL-driven analytics can scale into enterprise-grade systems with additional layers like dashboards, churn prediction models, and cohort survival analysis. By combining technical proficiency with strategic thinking, this approach positions analysts to deliver insights that drive growth, efficiency, and competitive advantage in real-world business environments.</a:t>
            </a:r>
          </a:p>
        </p:txBody>
      </p:sp>
      <p:sp>
        <p:nvSpPr>
          <p:cNvPr id="4" name="Slide Number Placeholder 3"/>
          <p:cNvSpPr>
            <a:spLocks noGrp="1"/>
          </p:cNvSpPr>
          <p:nvPr>
            <p:ph type="sldNum" sz="quarter" idx="5"/>
          </p:nvPr>
        </p:nvSpPr>
        <p:spPr/>
        <p:txBody>
          <a:bodyPr/>
          <a:lstStyle/>
          <a:p>
            <a:fld id="{567ACAB3-3653-4D0E-80B9-746C90734EA7}" type="slidenum">
              <a:t>17</a:t>
            </a:fld>
            <a:endParaRPr lang="en-US"/>
          </a:p>
        </p:txBody>
      </p:sp>
    </p:spTree>
    <p:extLst>
      <p:ext uri="{BB962C8B-B14F-4D97-AF65-F5344CB8AC3E}">
        <p14:creationId xmlns:p14="http://schemas.microsoft.com/office/powerpoint/2010/main" val="2467482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endParaRPr lang="en-US" dirty="0"/>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46608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endParaRPr lang="en-US" dirty="0"/>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Sunday, November 30, 2025</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19273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643556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Sunday, November 30, 2025</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80157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86110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endParaRPr lang="en-US" dirty="0"/>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Sunday, November 30, 2025</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1851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Sunday, November 30, 2025</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551022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37459441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37511183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Sunday, November 30, 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4035622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Sunday, November 30,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6102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3554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7485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56591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Sunday, November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214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Sunday, November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Sunday, November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71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Sunday, November 30, 2025</a:t>
            </a:fld>
            <a:endParaRPr lang="en-US" dirty="0"/>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559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Sunday, November 30, 2025</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23006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Sunday, November 30,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dirty="0"/>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Sunday, November 30,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20412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dirty="0"/>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Sunday, November 30,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80353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Sunday, November 30,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92316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Sunday, November 30,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03516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dirty="0"/>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Sunday, November 30,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3792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Sunday, November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Sunday, November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78578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Sunday, November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Sunday, November 30,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1987367"/>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Sunday, November 30,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8273461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Sunday, November 30,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21379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Sunday, November 30,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92323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Sunday, November 30,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942459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Sunday, November 30,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52628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Sunday, November 30, 2025</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115647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Sunday, November 30, 2025</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8577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Sunday, November 30, 2025</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911058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Sunday, November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Sunday, November 30, 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Sunday, November 30, 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Sunday, November 30, 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Sunday, November 30, 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Sunday, November 30, 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690216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Sunday, November 30, 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89" r:id="rId1"/>
    <p:sldLayoutId id="2147483662" r:id="rId2"/>
    <p:sldLayoutId id="2147483788" r:id="rId3"/>
    <p:sldLayoutId id="2147483792" r:id="rId4"/>
    <p:sldLayoutId id="2147483785" r:id="rId5"/>
    <p:sldLayoutId id="2147483781" r:id="rId6"/>
    <p:sldLayoutId id="2147483783" r:id="rId7"/>
    <p:sldLayoutId id="2147483784" r:id="rId8"/>
    <p:sldLayoutId id="2147483729" r:id="rId9"/>
    <p:sldLayoutId id="2147483810" r:id="rId10"/>
    <p:sldLayoutId id="2147483716" r:id="rId11"/>
    <p:sldLayoutId id="2147483841" r:id="rId12"/>
    <p:sldLayoutId id="2147483679" r:id="rId13"/>
    <p:sldLayoutId id="2147483680" r:id="rId14"/>
    <p:sldLayoutId id="2147483681" r:id="rId15"/>
    <p:sldLayoutId id="2147483778" r:id="rId16"/>
    <p:sldLayoutId id="2147483797" r:id="rId17"/>
    <p:sldLayoutId id="2147483794" r:id="rId18"/>
    <p:sldLayoutId id="2147483690" r:id="rId19"/>
    <p:sldLayoutId id="2147483707" r:id="rId20"/>
    <p:sldLayoutId id="2147483708" r:id="rId21"/>
    <p:sldLayoutId id="2147483848" r:id="rId22"/>
    <p:sldLayoutId id="2147483849" r:id="rId23"/>
    <p:sldLayoutId id="2147483694" r:id="rId24"/>
    <p:sldLayoutId id="2147483803" r:id="rId25"/>
    <p:sldLayoutId id="2147483824" r:id="rId26"/>
    <p:sldLayoutId id="2147483770" r:id="rId27"/>
    <p:sldLayoutId id="2147483801" r:id="rId28"/>
    <p:sldLayoutId id="2147483808" r:id="rId29"/>
    <p:sldLayoutId id="2147483672" r:id="rId30"/>
    <p:sldLayoutId id="2147483804" r:id="rId31"/>
    <p:sldLayoutId id="2147483696" r:id="rId32"/>
    <p:sldLayoutId id="2147483845" r:id="rId33"/>
    <p:sldLayoutId id="2147483846" r:id="rId34"/>
    <p:sldLayoutId id="2147483847" r:id="rId35"/>
    <p:sldLayoutId id="2147483826" r:id="rId36"/>
    <p:sldLayoutId id="2147483775" r:id="rId37"/>
    <p:sldLayoutId id="2147483823" r:id="rId38"/>
    <p:sldLayoutId id="2147483842" r:id="rId39"/>
    <p:sldLayoutId id="2147483843" r:id="rId40"/>
    <p:sldLayoutId id="2147483844" r:id="rId41"/>
    <p:sldLayoutId id="2147483664" r:id="rId42"/>
    <p:sldLayoutId id="2147483665" r:id="rId43"/>
    <p:sldLayoutId id="2147483666" r:id="rId44"/>
    <p:sldLayoutId id="2147483667" r:id="rId45"/>
    <p:sldLayoutId id="2147483668" r:id="rId46"/>
    <p:sldLayoutId id="2147483669" r:id="rId47"/>
    <p:sldLayoutId id="2147483685" r:id="rId48"/>
    <p:sldLayoutId id="2147483730"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C7E5F-B111-A6DA-E9AC-B21E8A6695B4}"/>
              </a:ext>
            </a:extLst>
          </p:cNvPr>
          <p:cNvSpPr>
            <a:spLocks noGrp="1"/>
          </p:cNvSpPr>
          <p:nvPr>
            <p:ph type="ctrTitle"/>
          </p:nvPr>
        </p:nvSpPr>
        <p:spPr>
          <a:xfrm>
            <a:off x="3557016" y="987552"/>
            <a:ext cx="7644384" cy="2944368"/>
          </a:xfrm>
        </p:spPr>
        <p:txBody>
          <a:bodyPr anchor="b">
            <a:normAutofit/>
          </a:bodyPr>
          <a:lstStyle/>
          <a:p>
            <a:r>
              <a:rPr lang="en-US" sz="3800"/>
              <a:t>Advanced SQL Analytics for Real-World Customer &amp; Product Insights</a:t>
            </a:r>
          </a:p>
        </p:txBody>
      </p:sp>
      <p:sp>
        <p:nvSpPr>
          <p:cNvPr id="3" name="Subtitle 2">
            <a:extLst>
              <a:ext uri="{FF2B5EF4-FFF2-40B4-BE49-F238E27FC236}">
                <a16:creationId xmlns:a16="http://schemas.microsoft.com/office/drawing/2014/main" id="{C414F197-4801-97AF-0338-18EEE9FC65DB}"/>
              </a:ext>
            </a:extLst>
          </p:cNvPr>
          <p:cNvSpPr>
            <a:spLocks noGrp="1"/>
          </p:cNvSpPr>
          <p:nvPr>
            <p:ph type="subTitle" idx="1"/>
          </p:nvPr>
        </p:nvSpPr>
        <p:spPr>
          <a:xfrm>
            <a:off x="3538728" y="5294376"/>
            <a:ext cx="7644384" cy="1078992"/>
          </a:xfrm>
        </p:spPr>
        <p:txBody>
          <a:bodyPr anchor="ctr">
            <a:normAutofit/>
          </a:bodyPr>
          <a:lstStyle/>
          <a:p>
            <a:r>
              <a:rPr lang="en-US"/>
              <a:t>Leveraging data to uncover actionable business intelligence</a:t>
            </a:r>
          </a:p>
        </p:txBody>
      </p:sp>
    </p:spTree>
    <p:extLst>
      <p:ext uri="{BB962C8B-B14F-4D97-AF65-F5344CB8AC3E}">
        <p14:creationId xmlns:p14="http://schemas.microsoft.com/office/powerpoint/2010/main" val="249048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B1193-84B4-11D3-D1C9-31AEE8F76D2F}"/>
              </a:ext>
            </a:extLst>
          </p:cNvPr>
          <p:cNvSpPr>
            <a:spLocks noGrp="1"/>
          </p:cNvSpPr>
          <p:nvPr>
            <p:ph type="title"/>
          </p:nvPr>
        </p:nvSpPr>
        <p:spPr>
          <a:xfrm>
            <a:off x="731520" y="2596896"/>
            <a:ext cx="8933688" cy="3566160"/>
          </a:xfrm>
        </p:spPr>
        <p:txBody>
          <a:bodyPr anchor="b">
            <a:normAutofit/>
          </a:bodyPr>
          <a:lstStyle/>
          <a:p>
            <a:r>
              <a:rPr lang="en-US"/>
              <a:t>Introduction</a:t>
            </a:r>
          </a:p>
        </p:txBody>
      </p:sp>
    </p:spTree>
    <p:extLst>
      <p:ext uri="{BB962C8B-B14F-4D97-AF65-F5344CB8AC3E}">
        <p14:creationId xmlns:p14="http://schemas.microsoft.com/office/powerpoint/2010/main" val="10940718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30FE5-3F2C-5DA3-C748-EAAE71E555E3}"/>
              </a:ext>
            </a:extLst>
          </p:cNvPr>
          <p:cNvSpPr>
            <a:spLocks noGrp="1"/>
          </p:cNvSpPr>
          <p:nvPr>
            <p:ph type="title"/>
          </p:nvPr>
        </p:nvSpPr>
        <p:spPr>
          <a:xfrm>
            <a:off x="731520" y="704088"/>
            <a:ext cx="3547872" cy="4965192"/>
          </a:xfrm>
        </p:spPr>
        <p:txBody>
          <a:bodyPr anchor="t">
            <a:normAutofit/>
          </a:bodyPr>
          <a:lstStyle/>
          <a:p>
            <a:r>
              <a:rPr lang="en-US"/>
              <a:t>Overview of Analytical Framework</a:t>
            </a:r>
          </a:p>
        </p:txBody>
      </p:sp>
      <p:sp>
        <p:nvSpPr>
          <p:cNvPr id="3" name="Content Placeholder 2">
            <a:extLst>
              <a:ext uri="{FF2B5EF4-FFF2-40B4-BE49-F238E27FC236}">
                <a16:creationId xmlns:a16="http://schemas.microsoft.com/office/drawing/2014/main" id="{7C30714D-F853-8B1C-8902-14F1D3BFA8B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65776" y="704088"/>
            <a:ext cx="6394704" cy="5212080"/>
          </a:xfrm>
        </p:spPr>
        <p:txBody>
          <a:bodyPr>
            <a:normAutofit/>
          </a:bodyPr>
          <a:lstStyle/>
          <a:p>
            <a:pPr marL="0" indent="0">
              <a:spcBef>
                <a:spcPts val="2500"/>
              </a:spcBef>
              <a:buFont typeface="Arial" panose="020B0604020202020204" pitchFamily="34" charset="0"/>
              <a:buNone/>
            </a:pPr>
            <a:r>
              <a:rPr lang="en-US" b="1"/>
              <a:t>Comprehensive SQL Framework</a:t>
            </a:r>
          </a:p>
          <a:p>
            <a:pPr marL="0" lvl="1" indent="0">
              <a:buFont typeface="Arial" panose="020B0604020202020204" pitchFamily="34" charset="0"/>
              <a:buNone/>
            </a:pPr>
            <a:r>
              <a:t>Focuses on building structured SQL layers including scripts, views, segmentation models, and KPIs for business insights.</a:t>
            </a:r>
            <a:endParaRPr lang="en-US"/>
          </a:p>
          <a:p>
            <a:pPr marL="0" indent="0">
              <a:spcBef>
                <a:spcPts val="2500"/>
              </a:spcBef>
              <a:buFont typeface="Arial" panose="020B0604020202020204" pitchFamily="34" charset="0"/>
              <a:buNone/>
            </a:pPr>
            <a:r>
              <a:rPr lang="en-US" b="1"/>
              <a:t>Strategic Decision Foundation</a:t>
            </a:r>
          </a:p>
          <a:p>
            <a:pPr marL="0" lvl="1" indent="0">
              <a:buFont typeface="Arial" panose="020B0604020202020204" pitchFamily="34" charset="0"/>
              <a:buNone/>
            </a:pPr>
            <a:r>
              <a:t>Uses SQL beyond querying to emulate an analyst role, supporting strategic business decision-making.</a:t>
            </a:r>
            <a:endParaRPr lang="en-US"/>
          </a:p>
          <a:p>
            <a:pPr marL="0" indent="0">
              <a:spcBef>
                <a:spcPts val="2500"/>
              </a:spcBef>
              <a:buFont typeface="Arial" panose="020B0604020202020204" pitchFamily="34" charset="0"/>
              <a:buNone/>
            </a:pPr>
            <a:r>
              <a:rPr lang="en-US" b="1"/>
              <a:t>Transforming Raw Data</a:t>
            </a:r>
          </a:p>
          <a:p>
            <a:pPr marL="0" lvl="1" indent="0">
              <a:buFont typeface="Arial" panose="020B0604020202020204" pitchFamily="34" charset="0"/>
              <a:buNone/>
            </a:pPr>
            <a:r>
              <a:t>Leverages dimensional modeling and SQL views to convert transactional data into meaningful patterns and trends.</a:t>
            </a:r>
            <a:endParaRPr lang="en-US"/>
          </a:p>
          <a:p>
            <a:pPr marL="0" indent="0">
              <a:spcBef>
                <a:spcPts val="2500"/>
              </a:spcBef>
              <a:buFont typeface="Arial" panose="020B0604020202020204" pitchFamily="34" charset="0"/>
              <a:buNone/>
            </a:pPr>
            <a:r>
              <a:rPr lang="en-US" b="1"/>
              <a:t>Data Storytelling Importance</a:t>
            </a:r>
          </a:p>
          <a:p>
            <a:pPr marL="0" lvl="1" indent="0">
              <a:buFont typeface="Arial" panose="020B0604020202020204" pitchFamily="34" charset="0"/>
              <a:buNone/>
            </a:pPr>
            <a:r>
              <a:t>Emphasizes uncovering behavioral trends and opportunities within customer and product data through analytics.</a:t>
            </a:r>
            <a:endParaRPr lang="en-US"/>
          </a:p>
        </p:txBody>
      </p:sp>
    </p:spTree>
    <p:extLst>
      <p:ext uri="{BB962C8B-B14F-4D97-AF65-F5344CB8AC3E}">
        <p14:creationId xmlns:p14="http://schemas.microsoft.com/office/powerpoint/2010/main" val="27330040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32383-E2D9-B849-2643-F5D9B5BCBACD}"/>
              </a:ext>
            </a:extLst>
          </p:cNvPr>
          <p:cNvSpPr>
            <a:spLocks noGrp="1"/>
          </p:cNvSpPr>
          <p:nvPr>
            <p:ph type="title"/>
          </p:nvPr>
        </p:nvSpPr>
        <p:spPr>
          <a:xfrm>
            <a:off x="731520" y="2596896"/>
            <a:ext cx="8933688" cy="3566160"/>
          </a:xfrm>
        </p:spPr>
        <p:txBody>
          <a:bodyPr anchor="b">
            <a:normAutofit/>
          </a:bodyPr>
          <a:lstStyle/>
          <a:p>
            <a:r>
              <a:rPr lang="en-US"/>
              <a:t>Analytical Philosophy</a:t>
            </a:r>
          </a:p>
        </p:txBody>
      </p:sp>
    </p:spTree>
    <p:extLst>
      <p:ext uri="{BB962C8B-B14F-4D97-AF65-F5344CB8AC3E}">
        <p14:creationId xmlns:p14="http://schemas.microsoft.com/office/powerpoint/2010/main" val="17037376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75F7F-9DC4-8172-F421-87052415D06A}"/>
              </a:ext>
            </a:extLst>
          </p:cNvPr>
          <p:cNvSpPr>
            <a:spLocks noGrp="1"/>
          </p:cNvSpPr>
          <p:nvPr>
            <p:ph type="title"/>
          </p:nvPr>
        </p:nvSpPr>
        <p:spPr>
          <a:xfrm>
            <a:off x="731520" y="704088"/>
            <a:ext cx="3547872" cy="4965192"/>
          </a:xfrm>
        </p:spPr>
        <p:txBody>
          <a:bodyPr anchor="t">
            <a:normAutofit/>
          </a:bodyPr>
          <a:lstStyle/>
          <a:p>
            <a:r>
              <a:rPr lang="en-US"/>
              <a:t>Principles of Data Storytelling</a:t>
            </a:r>
          </a:p>
        </p:txBody>
      </p:sp>
      <p:sp>
        <p:nvSpPr>
          <p:cNvPr id="3" name="Content Placeholder 2">
            <a:extLst>
              <a:ext uri="{FF2B5EF4-FFF2-40B4-BE49-F238E27FC236}">
                <a16:creationId xmlns:a16="http://schemas.microsoft.com/office/drawing/2014/main" id="{AF486ACD-77F7-D67E-122C-635B48B757DB}"/>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65776" y="704088"/>
            <a:ext cx="6394704" cy="5212080"/>
          </a:xfrm>
        </p:spPr>
        <p:txBody>
          <a:bodyPr>
            <a:normAutofit/>
          </a:bodyPr>
          <a:lstStyle/>
          <a:p>
            <a:pPr marL="0" indent="0">
              <a:spcBef>
                <a:spcPts val="2500"/>
              </a:spcBef>
              <a:buFont typeface="Arial" panose="020B0604020202020204" pitchFamily="34" charset="0"/>
              <a:buNone/>
            </a:pPr>
            <a:r>
              <a:rPr lang="en-US" b="1"/>
              <a:t>Data Reflects Behavior</a:t>
            </a:r>
          </a:p>
          <a:p>
            <a:pPr marL="0" lvl="1" indent="0">
              <a:buFont typeface="Arial" panose="020B0604020202020204" pitchFamily="34" charset="0"/>
              <a:buNone/>
            </a:pPr>
            <a:r>
              <a:t>Business data reveals patterns that indicate customer behavior and signal new opportunities for growth.</a:t>
            </a:r>
            <a:endParaRPr lang="en-US"/>
          </a:p>
          <a:p>
            <a:pPr marL="0" indent="0">
              <a:spcBef>
                <a:spcPts val="2500"/>
              </a:spcBef>
              <a:buFont typeface="Arial" panose="020B0604020202020204" pitchFamily="34" charset="0"/>
              <a:buNone/>
            </a:pPr>
            <a:r>
              <a:rPr lang="en-US" b="1"/>
              <a:t>Narrative-Driven Analytics</a:t>
            </a:r>
          </a:p>
          <a:p>
            <a:pPr marL="0" lvl="1" indent="0">
              <a:buFont typeface="Arial" panose="020B0604020202020204" pitchFamily="34" charset="0"/>
              <a:buNone/>
            </a:pPr>
            <a:r>
              <a:t>Transforming raw data into stories helps uncover insights and supports strategic business decisions.</a:t>
            </a:r>
            <a:endParaRPr lang="en-US"/>
          </a:p>
          <a:p>
            <a:pPr marL="0" indent="0">
              <a:spcBef>
                <a:spcPts val="2500"/>
              </a:spcBef>
              <a:buFont typeface="Arial" panose="020B0604020202020204" pitchFamily="34" charset="0"/>
              <a:buNone/>
            </a:pPr>
            <a:r>
              <a:rPr lang="en-US" b="1"/>
              <a:t>Actionable Business Insights</a:t>
            </a:r>
          </a:p>
          <a:p>
            <a:pPr marL="0" lvl="1" indent="0">
              <a:buFont typeface="Arial" panose="020B0604020202020204" pitchFamily="34" charset="0"/>
              <a:buNone/>
            </a:pPr>
            <a:r>
              <a:t>Identifying trends and anomalies guides targeted marketing and inventory planning to enhance performance.</a:t>
            </a:r>
            <a:endParaRPr lang="en-US"/>
          </a:p>
          <a:p>
            <a:pPr marL="0" indent="0">
              <a:spcBef>
                <a:spcPts val="2500"/>
              </a:spcBef>
              <a:buFont typeface="Arial" panose="020B0604020202020204" pitchFamily="34" charset="0"/>
              <a:buNone/>
            </a:pPr>
            <a:r>
              <a:rPr lang="en-US" b="1"/>
              <a:t>Holistic Data Perspective</a:t>
            </a:r>
          </a:p>
          <a:p>
            <a:pPr marL="0" lvl="1" indent="0">
              <a:buFont typeface="Arial" panose="020B0604020202020204" pitchFamily="34" charset="0"/>
              <a:buNone/>
            </a:pPr>
            <a:r>
              <a:t>Each metric contributes to a broader narrative about customer engagement and market dynamics.</a:t>
            </a:r>
            <a:endParaRPr lang="en-US"/>
          </a:p>
        </p:txBody>
      </p:sp>
    </p:spTree>
    <p:extLst>
      <p:ext uri="{BB962C8B-B14F-4D97-AF65-F5344CB8AC3E}">
        <p14:creationId xmlns:p14="http://schemas.microsoft.com/office/powerpoint/2010/main" val="14556418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C4D2A-545F-C4F7-C4AA-87BA86ABCE1E}"/>
              </a:ext>
            </a:extLst>
          </p:cNvPr>
          <p:cNvSpPr>
            <a:spLocks noGrp="1"/>
          </p:cNvSpPr>
          <p:nvPr>
            <p:ph type="title"/>
          </p:nvPr>
        </p:nvSpPr>
        <p:spPr>
          <a:xfrm>
            <a:off x="731520" y="2596896"/>
            <a:ext cx="8933688" cy="3566160"/>
          </a:xfrm>
        </p:spPr>
        <p:txBody>
          <a:bodyPr anchor="b">
            <a:normAutofit/>
          </a:bodyPr>
          <a:lstStyle/>
          <a:p>
            <a:r>
              <a:rPr lang="en-US"/>
              <a:t>Data Model – Fact &amp; Dimension</a:t>
            </a:r>
          </a:p>
        </p:txBody>
      </p:sp>
    </p:spTree>
    <p:extLst>
      <p:ext uri="{BB962C8B-B14F-4D97-AF65-F5344CB8AC3E}">
        <p14:creationId xmlns:p14="http://schemas.microsoft.com/office/powerpoint/2010/main" val="30962342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B2B9C-11BB-4A0A-66E2-B8FD09B8FD4C}"/>
              </a:ext>
            </a:extLst>
          </p:cNvPr>
          <p:cNvSpPr>
            <a:spLocks noGrp="1"/>
          </p:cNvSpPr>
          <p:nvPr>
            <p:ph type="title"/>
          </p:nvPr>
        </p:nvSpPr>
        <p:spPr>
          <a:xfrm>
            <a:off x="731520" y="704088"/>
            <a:ext cx="3547872" cy="4965192"/>
          </a:xfrm>
        </p:spPr>
        <p:txBody>
          <a:bodyPr anchor="t">
            <a:normAutofit/>
          </a:bodyPr>
          <a:lstStyle/>
          <a:p>
            <a:r>
              <a:rPr lang="en-US"/>
              <a:t>Kimball-Style Architecture</a:t>
            </a:r>
          </a:p>
        </p:txBody>
      </p:sp>
      <p:sp>
        <p:nvSpPr>
          <p:cNvPr id="3" name="Content Placeholder 2">
            <a:extLst>
              <a:ext uri="{FF2B5EF4-FFF2-40B4-BE49-F238E27FC236}">
                <a16:creationId xmlns:a16="http://schemas.microsoft.com/office/drawing/2014/main" id="{F977F1FF-6D85-C154-45D6-04B8A0776208}"/>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65776" y="704088"/>
            <a:ext cx="6394704" cy="5212080"/>
          </a:xfrm>
        </p:spPr>
        <p:txBody>
          <a:bodyPr>
            <a:normAutofit/>
          </a:bodyPr>
          <a:lstStyle/>
          <a:p>
            <a:pPr marL="0" indent="0">
              <a:spcBef>
                <a:spcPts val="2500"/>
              </a:spcBef>
              <a:buFont typeface="Arial" panose="020B0604020202020204" pitchFamily="34" charset="0"/>
              <a:buNone/>
            </a:pPr>
            <a:r>
              <a:rPr lang="en-US" b="1"/>
              <a:t>Fact Table Core</a:t>
            </a:r>
          </a:p>
          <a:p>
            <a:pPr marL="0" lvl="1" indent="0">
              <a:buFont typeface="Arial" panose="020B0604020202020204" pitchFamily="34" charset="0"/>
              <a:buNone/>
            </a:pPr>
            <a:r>
              <a:t>The fact_sales table stores transactional details like customer, product, order date, quantity, and sales amount.</a:t>
            </a:r>
            <a:endParaRPr lang="en-US"/>
          </a:p>
          <a:p>
            <a:pPr marL="0" indent="0">
              <a:spcBef>
                <a:spcPts val="2500"/>
              </a:spcBef>
              <a:buFont typeface="Arial" panose="020B0604020202020204" pitchFamily="34" charset="0"/>
              <a:buNone/>
            </a:pPr>
            <a:r>
              <a:rPr lang="en-US" b="1"/>
              <a:t>Dimension Tables</a:t>
            </a:r>
          </a:p>
          <a:p>
            <a:pPr marL="0" lvl="1" indent="0">
              <a:buFont typeface="Arial" panose="020B0604020202020204" pitchFamily="34" charset="0"/>
              <a:buNone/>
            </a:pPr>
            <a:r>
              <a:t>Dimension tables like dim_customers and dim_product provide descriptive attributes for detailed segmentation and analysis.</a:t>
            </a:r>
            <a:endParaRPr lang="en-US"/>
          </a:p>
          <a:p>
            <a:pPr marL="0" indent="0">
              <a:spcBef>
                <a:spcPts val="2500"/>
              </a:spcBef>
              <a:buFont typeface="Arial" panose="020B0604020202020204" pitchFamily="34" charset="0"/>
              <a:buNone/>
            </a:pPr>
            <a:r>
              <a:rPr lang="en-US" b="1"/>
              <a:t>Analytical Flexibility</a:t>
            </a:r>
          </a:p>
          <a:p>
            <a:pPr marL="0" lvl="1" indent="0">
              <a:buFont typeface="Arial" panose="020B0604020202020204" pitchFamily="34" charset="0"/>
              <a:buNone/>
            </a:pPr>
            <a:r>
              <a:t>The architecture enables slicing data by demographics, categories, time, and performance for advanced analytics and trends.</a:t>
            </a:r>
            <a:endParaRPr lang="en-US"/>
          </a:p>
          <a:p>
            <a:pPr marL="0" indent="0">
              <a:spcBef>
                <a:spcPts val="2500"/>
              </a:spcBef>
              <a:buFont typeface="Arial" panose="020B0604020202020204" pitchFamily="34" charset="0"/>
              <a:buNone/>
            </a:pPr>
            <a:r>
              <a:rPr lang="en-US" b="1"/>
              <a:t>Business Insights &amp; KPIs</a:t>
            </a:r>
          </a:p>
          <a:p>
            <a:pPr marL="0" lvl="1" indent="0">
              <a:buFont typeface="Arial" panose="020B0604020202020204" pitchFamily="34" charset="0"/>
              <a:buNone/>
            </a:pPr>
            <a:r>
              <a:t>This model supports building SQL views and KPIs that deliver granular insights while ensuring data consistency and integrity.</a:t>
            </a:r>
            <a:endParaRPr lang="en-US"/>
          </a:p>
        </p:txBody>
      </p:sp>
    </p:spTree>
    <p:extLst>
      <p:ext uri="{BB962C8B-B14F-4D97-AF65-F5344CB8AC3E}">
        <p14:creationId xmlns:p14="http://schemas.microsoft.com/office/powerpoint/2010/main" val="29957557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982A9-A78B-5BF0-1A3E-36C90DF20D71}"/>
              </a:ext>
            </a:extLst>
          </p:cNvPr>
          <p:cNvSpPr>
            <a:spLocks noGrp="1"/>
          </p:cNvSpPr>
          <p:nvPr>
            <p:ph type="title"/>
          </p:nvPr>
        </p:nvSpPr>
        <p:spPr>
          <a:xfrm>
            <a:off x="731520" y="2596896"/>
            <a:ext cx="8933688" cy="3566160"/>
          </a:xfrm>
        </p:spPr>
        <p:txBody>
          <a:bodyPr anchor="b">
            <a:normAutofit/>
          </a:bodyPr>
          <a:lstStyle/>
          <a:p>
            <a:r>
              <a:rPr lang="en-US"/>
              <a:t>Customer Analytics Insights</a:t>
            </a:r>
          </a:p>
        </p:txBody>
      </p:sp>
    </p:spTree>
    <p:extLst>
      <p:ext uri="{BB962C8B-B14F-4D97-AF65-F5344CB8AC3E}">
        <p14:creationId xmlns:p14="http://schemas.microsoft.com/office/powerpoint/2010/main" val="1096601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4B815-A75E-7EA7-AAFE-EE6931D7AB91}"/>
              </a:ext>
            </a:extLst>
          </p:cNvPr>
          <p:cNvSpPr>
            <a:spLocks noGrp="1"/>
          </p:cNvSpPr>
          <p:nvPr>
            <p:ph type="title"/>
          </p:nvPr>
        </p:nvSpPr>
        <p:spPr>
          <a:xfrm>
            <a:off x="731520" y="704088"/>
            <a:ext cx="3547872" cy="4965192"/>
          </a:xfrm>
        </p:spPr>
        <p:txBody>
          <a:bodyPr anchor="t">
            <a:normAutofit/>
          </a:bodyPr>
          <a:lstStyle/>
          <a:p>
            <a:r>
              <a:rPr lang="en-US"/>
              <a:t>Segmentation and Behavioral Metrics</a:t>
            </a:r>
          </a:p>
        </p:txBody>
      </p:sp>
      <p:sp>
        <p:nvSpPr>
          <p:cNvPr id="3" name="Content Placeholder 2">
            <a:extLst>
              <a:ext uri="{FF2B5EF4-FFF2-40B4-BE49-F238E27FC236}">
                <a16:creationId xmlns:a16="http://schemas.microsoft.com/office/drawing/2014/main" id="{FFB4F8CE-8400-B63A-2CB4-E671CF893350}"/>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65776" y="704088"/>
            <a:ext cx="6394704" cy="5212080"/>
          </a:xfrm>
        </p:spPr>
        <p:txBody>
          <a:bodyPr>
            <a:normAutofit/>
          </a:bodyPr>
          <a:lstStyle/>
          <a:p>
            <a:pPr marL="0" indent="0">
              <a:spcBef>
                <a:spcPts val="2500"/>
              </a:spcBef>
              <a:buFont typeface="Arial" panose="020B0604020202020204" pitchFamily="34" charset="0"/>
              <a:buNone/>
            </a:pPr>
            <a:r>
              <a:rPr lang="en-US" b="1"/>
              <a:t>Demographic Segmentation</a:t>
            </a:r>
          </a:p>
          <a:p>
            <a:pPr marL="0" lvl="1" indent="0">
              <a:buFont typeface="Arial" panose="020B0604020202020204" pitchFamily="34" charset="0"/>
              <a:buNone/>
            </a:pPr>
            <a:r>
              <a:t>Age group classification enables targeted persona-driven marketing strategies based on customer demographics.</a:t>
            </a:r>
            <a:endParaRPr lang="en-US"/>
          </a:p>
          <a:p>
            <a:pPr marL="0" indent="0">
              <a:spcBef>
                <a:spcPts val="2500"/>
              </a:spcBef>
              <a:buFont typeface="Arial" panose="020B0604020202020204" pitchFamily="34" charset="0"/>
              <a:buNone/>
            </a:pPr>
            <a:r>
              <a:rPr lang="en-US" b="1"/>
              <a:t>Economic Value Segmentation</a:t>
            </a:r>
          </a:p>
          <a:p>
            <a:pPr marL="0" lvl="1" indent="0">
              <a:buFont typeface="Arial" panose="020B0604020202020204" pitchFamily="34" charset="0"/>
              <a:buNone/>
            </a:pPr>
            <a:r>
              <a:t>Customers are segmented into VIPs, Regulars, and New acquisitions to tailor reward and onboarding campaigns.</a:t>
            </a:r>
            <a:endParaRPr lang="en-US"/>
          </a:p>
          <a:p>
            <a:pPr marL="0" indent="0">
              <a:spcBef>
                <a:spcPts val="2500"/>
              </a:spcBef>
              <a:buFont typeface="Arial" panose="020B0604020202020204" pitchFamily="34" charset="0"/>
              <a:buNone/>
            </a:pPr>
            <a:r>
              <a:rPr lang="en-US" b="1"/>
              <a:t>Behavioral Metrics: Lifespan and Recency</a:t>
            </a:r>
          </a:p>
          <a:p>
            <a:pPr marL="0" lvl="1" indent="0">
              <a:buFont typeface="Arial" panose="020B0604020202020204" pitchFamily="34" charset="0"/>
              <a:buNone/>
            </a:pPr>
            <a:r>
              <a:t>Lifespan tracks duration between first and last purchase; recency measures time since last transaction.</a:t>
            </a:r>
            <a:endParaRPr lang="en-US"/>
          </a:p>
          <a:p>
            <a:pPr marL="0" indent="0">
              <a:spcBef>
                <a:spcPts val="2500"/>
              </a:spcBef>
              <a:buFont typeface="Arial" panose="020B0604020202020204" pitchFamily="34" charset="0"/>
              <a:buNone/>
            </a:pPr>
            <a:r>
              <a:rPr lang="en-US" b="1"/>
              <a:t>Data-Driven Marketing Interventions</a:t>
            </a:r>
          </a:p>
          <a:p>
            <a:pPr marL="0" lvl="1" indent="0">
              <a:buFont typeface="Arial" panose="020B0604020202020204" pitchFamily="34" charset="0"/>
              <a:buNone/>
            </a:pPr>
            <a:r>
              <a:t>Using SQL insights, businesses create targeted campaigns to improve retention, reduce churn, and boost engagement.</a:t>
            </a:r>
            <a:endParaRPr lang="en-US"/>
          </a:p>
        </p:txBody>
      </p:sp>
    </p:spTree>
    <p:extLst>
      <p:ext uri="{BB962C8B-B14F-4D97-AF65-F5344CB8AC3E}">
        <p14:creationId xmlns:p14="http://schemas.microsoft.com/office/powerpoint/2010/main" val="2780407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A8461-3E51-0FAF-77C9-3F9DF0A6B1CE}"/>
              </a:ext>
            </a:extLst>
          </p:cNvPr>
          <p:cNvSpPr>
            <a:spLocks noGrp="1"/>
          </p:cNvSpPr>
          <p:nvPr>
            <p:ph type="title"/>
          </p:nvPr>
        </p:nvSpPr>
        <p:spPr>
          <a:xfrm>
            <a:off x="731520" y="2596896"/>
            <a:ext cx="8933688" cy="3566160"/>
          </a:xfrm>
        </p:spPr>
        <p:txBody>
          <a:bodyPr anchor="b">
            <a:normAutofit/>
          </a:bodyPr>
          <a:lstStyle/>
          <a:p>
            <a:r>
              <a:rPr lang="en-US"/>
              <a:t>Product Analytics Insights</a:t>
            </a:r>
          </a:p>
        </p:txBody>
      </p:sp>
    </p:spTree>
    <p:extLst>
      <p:ext uri="{BB962C8B-B14F-4D97-AF65-F5344CB8AC3E}">
        <p14:creationId xmlns:p14="http://schemas.microsoft.com/office/powerpoint/2010/main" val="16499408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1BCEE-0422-5DB4-687F-F68CAD22214A}"/>
              </a:ext>
            </a:extLst>
          </p:cNvPr>
          <p:cNvSpPr>
            <a:spLocks noGrp="1"/>
          </p:cNvSpPr>
          <p:nvPr>
            <p:ph type="title"/>
          </p:nvPr>
        </p:nvSpPr>
        <p:spPr>
          <a:xfrm>
            <a:off x="1033272" y="347472"/>
            <a:ext cx="9875520" cy="1033272"/>
          </a:xfrm>
        </p:spPr>
        <p:txBody>
          <a:bodyPr anchor="ctr">
            <a:normAutofit/>
          </a:bodyPr>
          <a:lstStyle/>
          <a:p>
            <a:r>
              <a:rPr lang="en-US"/>
              <a:t>Performance and Pricing Intelligence</a:t>
            </a:r>
          </a:p>
        </p:txBody>
      </p:sp>
      <p:graphicFrame>
        <p:nvGraphicFramePr>
          <p:cNvPr id="7" name="Content Placeholder 2">
            <a:extLst>
              <a:ext uri="{FF2B5EF4-FFF2-40B4-BE49-F238E27FC236}">
                <a16:creationId xmlns:a16="http://schemas.microsoft.com/office/drawing/2014/main" id="{F47B5235-986F-E470-0EF6-51382F46E22C}"/>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033272" y="2203703"/>
          <a:ext cx="9875520" cy="40676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40717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9596-86C0-37C4-4B15-C738A32E5285}"/>
              </a:ext>
            </a:extLst>
          </p:cNvPr>
          <p:cNvSpPr>
            <a:spLocks noGrp="1"/>
          </p:cNvSpPr>
          <p:nvPr>
            <p:ph type="title"/>
          </p:nvPr>
        </p:nvSpPr>
        <p:spPr>
          <a:xfrm>
            <a:off x="731520" y="2596896"/>
            <a:ext cx="8933688" cy="3566160"/>
          </a:xfrm>
        </p:spPr>
        <p:txBody>
          <a:bodyPr anchor="b">
            <a:normAutofit/>
          </a:bodyPr>
          <a:lstStyle/>
          <a:p>
            <a:r>
              <a:rPr lang="en-US"/>
              <a:t>Temporal &amp; Ranking Analysis</a:t>
            </a:r>
          </a:p>
        </p:txBody>
      </p:sp>
    </p:spTree>
    <p:extLst>
      <p:ext uri="{BB962C8B-B14F-4D97-AF65-F5344CB8AC3E}">
        <p14:creationId xmlns:p14="http://schemas.microsoft.com/office/powerpoint/2010/main" val="16920683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37D51-F4B5-13F5-E577-F96239749AFC}"/>
              </a:ext>
            </a:extLst>
          </p:cNvPr>
          <p:cNvSpPr>
            <a:spLocks noGrp="1"/>
          </p:cNvSpPr>
          <p:nvPr>
            <p:ph type="title"/>
          </p:nvPr>
        </p:nvSpPr>
        <p:spPr>
          <a:xfrm>
            <a:off x="731520" y="704088"/>
            <a:ext cx="3547872" cy="4965192"/>
          </a:xfrm>
        </p:spPr>
        <p:txBody>
          <a:bodyPr anchor="t">
            <a:normAutofit/>
          </a:bodyPr>
          <a:lstStyle/>
          <a:p>
            <a:r>
              <a:rPr lang="en-US"/>
              <a:t>Seasonality, Rankings, and Growth Patterns</a:t>
            </a:r>
          </a:p>
        </p:txBody>
      </p:sp>
      <p:sp>
        <p:nvSpPr>
          <p:cNvPr id="3" name="Content Placeholder 2">
            <a:extLst>
              <a:ext uri="{FF2B5EF4-FFF2-40B4-BE49-F238E27FC236}">
                <a16:creationId xmlns:a16="http://schemas.microsoft.com/office/drawing/2014/main" id="{ED0B43B4-21D1-A7A3-69DE-48A8D9E358E3}"/>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65776" y="704088"/>
            <a:ext cx="6394704" cy="5212080"/>
          </a:xfrm>
        </p:spPr>
        <p:txBody>
          <a:bodyPr>
            <a:normAutofit/>
          </a:bodyPr>
          <a:lstStyle/>
          <a:p>
            <a:pPr marL="0" indent="0">
              <a:spcBef>
                <a:spcPts val="2500"/>
              </a:spcBef>
              <a:buFont typeface="Arial" panose="020B0604020202020204" pitchFamily="34" charset="0"/>
              <a:buNone/>
            </a:pPr>
            <a:r>
              <a:rPr lang="en-US" b="1"/>
              <a:t>Seasonal Sales Trends</a:t>
            </a:r>
          </a:p>
          <a:p>
            <a:pPr marL="0" lvl="1" indent="0">
              <a:buFont typeface="Arial" panose="020B0604020202020204" pitchFamily="34" charset="0"/>
              <a:buNone/>
            </a:pPr>
            <a:r>
              <a:t>Analyzing sales patterns across months or quarters helps identify peak demand periods for inventory planning.</a:t>
            </a:r>
            <a:endParaRPr lang="en-US"/>
          </a:p>
          <a:p>
            <a:pPr marL="0" indent="0">
              <a:spcBef>
                <a:spcPts val="2500"/>
              </a:spcBef>
              <a:buFont typeface="Arial" panose="020B0604020202020204" pitchFamily="34" charset="0"/>
              <a:buNone/>
            </a:pPr>
            <a:r>
              <a:rPr lang="en-US" b="1"/>
              <a:t>Customer and Product Rankings</a:t>
            </a:r>
          </a:p>
          <a:p>
            <a:pPr marL="0" lvl="1" indent="0">
              <a:buFont typeface="Arial" panose="020B0604020202020204" pitchFamily="34" charset="0"/>
              <a:buNone/>
            </a:pPr>
            <a:r>
              <a:t>Ranking analysis identifies top-performing customers and products for strategic resource allocation.</a:t>
            </a:r>
            <a:endParaRPr lang="en-US"/>
          </a:p>
          <a:p>
            <a:pPr marL="0" indent="0">
              <a:spcBef>
                <a:spcPts val="2500"/>
              </a:spcBef>
              <a:buFont typeface="Arial" panose="020B0604020202020204" pitchFamily="34" charset="0"/>
              <a:buNone/>
            </a:pPr>
            <a:r>
              <a:rPr lang="en-US" b="1"/>
              <a:t>Contribution and Portfolio Optimization</a:t>
            </a:r>
          </a:p>
          <a:p>
            <a:pPr marL="0" lvl="1" indent="0">
              <a:buFont typeface="Arial" panose="020B0604020202020204" pitchFamily="34" charset="0"/>
              <a:buNone/>
            </a:pPr>
            <a:r>
              <a:t>Contribution analysis shows sales percentages, providing a part-to-whole view essential for optimizing the product portfolio.</a:t>
            </a:r>
            <a:endParaRPr lang="en-US"/>
          </a:p>
          <a:p>
            <a:pPr marL="0" indent="0">
              <a:spcBef>
                <a:spcPts val="2500"/>
              </a:spcBef>
              <a:buFont typeface="Arial" panose="020B0604020202020204" pitchFamily="34" charset="0"/>
              <a:buNone/>
            </a:pPr>
            <a:r>
              <a:rPr lang="en-US" b="1"/>
              <a:t>Cumulative Growth Metrics</a:t>
            </a:r>
          </a:p>
          <a:p>
            <a:pPr marL="0" lvl="1" indent="0">
              <a:buFont typeface="Arial" panose="020B0604020202020204" pitchFamily="34" charset="0"/>
              <a:buNone/>
            </a:pPr>
            <a:r>
              <a:t>Cumulative sales and customer growth metrics reveal momentum and long-term performance trends.</a:t>
            </a:r>
            <a:endParaRPr lang="en-US"/>
          </a:p>
        </p:txBody>
      </p:sp>
    </p:spTree>
    <p:extLst>
      <p:ext uri="{BB962C8B-B14F-4D97-AF65-F5344CB8AC3E}">
        <p14:creationId xmlns:p14="http://schemas.microsoft.com/office/powerpoint/2010/main" val="3115062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07383-6976-8FE0-0FE7-513F9BFA6FB7}"/>
              </a:ext>
            </a:extLst>
          </p:cNvPr>
          <p:cNvSpPr>
            <a:spLocks noGrp="1"/>
          </p:cNvSpPr>
          <p:nvPr>
            <p:ph type="title"/>
          </p:nvPr>
        </p:nvSpPr>
        <p:spPr>
          <a:xfrm>
            <a:off x="3657600" y="2807208"/>
            <a:ext cx="7772400" cy="3346704"/>
          </a:xfrm>
        </p:spPr>
        <p:txBody>
          <a:bodyPr anchor="t">
            <a:normAutofit/>
          </a:bodyPr>
          <a:lstStyle/>
          <a:p>
            <a:r>
              <a:rPr lang="en-US"/>
              <a:t>From SQL to Decision Impact</a:t>
            </a:r>
          </a:p>
        </p:txBody>
      </p:sp>
    </p:spTree>
    <p:extLst>
      <p:ext uri="{BB962C8B-B14F-4D97-AF65-F5344CB8AC3E}">
        <p14:creationId xmlns:p14="http://schemas.microsoft.com/office/powerpoint/2010/main" val="26020302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C8484-5896-B832-9D15-E729EC161D94}"/>
              </a:ext>
            </a:extLst>
          </p:cNvPr>
          <p:cNvSpPr>
            <a:spLocks noGrp="1"/>
          </p:cNvSpPr>
          <p:nvPr>
            <p:ph type="title"/>
          </p:nvPr>
        </p:nvSpPr>
        <p:spPr>
          <a:xfrm>
            <a:off x="731520" y="704088"/>
            <a:ext cx="3547872" cy="4965192"/>
          </a:xfrm>
        </p:spPr>
        <p:txBody>
          <a:bodyPr anchor="t">
            <a:normAutofit/>
          </a:bodyPr>
          <a:lstStyle/>
          <a:p>
            <a:r>
              <a:rPr lang="en-US"/>
              <a:t>Business Outcomes Enabled by Analytics</a:t>
            </a:r>
          </a:p>
        </p:txBody>
      </p:sp>
      <p:sp>
        <p:nvSpPr>
          <p:cNvPr id="3" name="Content Placeholder 2">
            <a:extLst>
              <a:ext uri="{FF2B5EF4-FFF2-40B4-BE49-F238E27FC236}">
                <a16:creationId xmlns:a16="http://schemas.microsoft.com/office/drawing/2014/main" id="{8F34D7FD-F6D3-006D-903F-04EDCFC9F640}"/>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65776" y="704088"/>
            <a:ext cx="6394704" cy="5212080"/>
          </a:xfrm>
        </p:spPr>
        <p:txBody>
          <a:bodyPr>
            <a:normAutofit/>
          </a:bodyPr>
          <a:lstStyle/>
          <a:p>
            <a:pPr marL="0" indent="0">
              <a:spcBef>
                <a:spcPts val="2500"/>
              </a:spcBef>
              <a:buFont typeface="Arial" panose="020B0604020202020204" pitchFamily="34" charset="0"/>
              <a:buNone/>
            </a:pPr>
            <a:r>
              <a:rPr lang="en-US" b="1"/>
              <a:t>Customer Retention and Churn Forecasting</a:t>
            </a:r>
          </a:p>
          <a:p>
            <a:pPr marL="0" lvl="1" indent="0">
              <a:buFont typeface="Arial" panose="020B0604020202020204" pitchFamily="34" charset="0"/>
              <a:buNone/>
            </a:pPr>
            <a:r>
              <a:t>Analytics helps identify best customers and predict churn to improve retention and boost customer lifetime value.</a:t>
            </a:r>
            <a:endParaRPr lang="en-US"/>
          </a:p>
          <a:p>
            <a:pPr marL="0" indent="0">
              <a:spcBef>
                <a:spcPts val="2500"/>
              </a:spcBef>
              <a:buFont typeface="Arial" panose="020B0604020202020204" pitchFamily="34" charset="0"/>
              <a:buNone/>
            </a:pPr>
            <a:r>
              <a:rPr lang="en-US" b="1"/>
              <a:t>Inventory and Pricing Optimization</a:t>
            </a:r>
          </a:p>
          <a:p>
            <a:pPr marL="0" lvl="1" indent="0">
              <a:buFont typeface="Arial" panose="020B0604020202020204" pitchFamily="34" charset="0"/>
              <a:buNone/>
            </a:pPr>
            <a:r>
              <a:t>Data-driven inventory and pricing strategies reduce waste and increase profitability through optimized product performance.</a:t>
            </a:r>
            <a:endParaRPr lang="en-US"/>
          </a:p>
          <a:p>
            <a:pPr marL="0" indent="0">
              <a:spcBef>
                <a:spcPts val="2500"/>
              </a:spcBef>
              <a:buFont typeface="Arial" panose="020B0604020202020204" pitchFamily="34" charset="0"/>
              <a:buNone/>
            </a:pPr>
            <a:r>
              <a:rPr lang="en-US" b="1"/>
              <a:t>Effective Customer Engagement</a:t>
            </a:r>
          </a:p>
          <a:p>
            <a:pPr marL="0" lvl="1" indent="0">
              <a:buFont typeface="Arial" panose="020B0604020202020204" pitchFamily="34" charset="0"/>
              <a:buNone/>
            </a:pPr>
            <a:r>
              <a:t>Targeted campaigns and loyalty programs become more effective when based on behavioral insights from analytics.</a:t>
            </a:r>
            <a:endParaRPr lang="en-US"/>
          </a:p>
          <a:p>
            <a:pPr marL="0" indent="0">
              <a:spcBef>
                <a:spcPts val="2500"/>
              </a:spcBef>
              <a:buFont typeface="Arial" panose="020B0604020202020204" pitchFamily="34" charset="0"/>
              <a:buNone/>
            </a:pPr>
            <a:r>
              <a:rPr lang="en-US" b="1"/>
              <a:t>Strategic Growth and Resource Planning</a:t>
            </a:r>
          </a:p>
          <a:p>
            <a:pPr marL="0" lvl="1" indent="0">
              <a:buFont typeface="Arial" panose="020B0604020202020204" pitchFamily="34" charset="0"/>
              <a:buNone/>
            </a:pPr>
            <a:r>
              <a:t>Understanding growth patterns and contribution percentages supports better strategic planning and resource allocation.</a:t>
            </a:r>
            <a:endParaRPr lang="en-US"/>
          </a:p>
        </p:txBody>
      </p:sp>
    </p:spTree>
    <p:extLst>
      <p:ext uri="{BB962C8B-B14F-4D97-AF65-F5344CB8AC3E}">
        <p14:creationId xmlns:p14="http://schemas.microsoft.com/office/powerpoint/2010/main" val="5024282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4F72-DD73-E4C1-4095-CA48D88DAE92}"/>
              </a:ext>
            </a:extLst>
          </p:cNvPr>
          <p:cNvSpPr>
            <a:spLocks noGrp="1"/>
          </p:cNvSpPr>
          <p:nvPr>
            <p:ph type="title"/>
          </p:nvPr>
        </p:nvSpPr>
        <p:spPr>
          <a:xfrm>
            <a:off x="731520" y="2596896"/>
            <a:ext cx="8933688" cy="3566160"/>
          </a:xfrm>
        </p:spPr>
        <p:txBody>
          <a:bodyPr anchor="b">
            <a:normAutofit/>
          </a:bodyPr>
          <a:lstStyle/>
          <a:p>
            <a:r>
              <a:rPr lang="en-US"/>
              <a:t>Technical Skills &amp; Conclusion</a:t>
            </a:r>
          </a:p>
        </p:txBody>
      </p:sp>
    </p:spTree>
    <p:extLst>
      <p:ext uri="{BB962C8B-B14F-4D97-AF65-F5344CB8AC3E}">
        <p14:creationId xmlns:p14="http://schemas.microsoft.com/office/powerpoint/2010/main" val="13819857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E5567-87B0-F571-DBF1-AEB44E7FF483}"/>
              </a:ext>
            </a:extLst>
          </p:cNvPr>
          <p:cNvSpPr>
            <a:spLocks noGrp="1"/>
          </p:cNvSpPr>
          <p:nvPr>
            <p:ph type="title"/>
          </p:nvPr>
        </p:nvSpPr>
        <p:spPr>
          <a:xfrm>
            <a:off x="731520" y="704088"/>
            <a:ext cx="3547872" cy="4965192"/>
          </a:xfrm>
        </p:spPr>
        <p:txBody>
          <a:bodyPr anchor="t">
            <a:normAutofit/>
          </a:bodyPr>
          <a:lstStyle/>
          <a:p>
            <a:r>
              <a:rPr lang="en-US"/>
              <a:t>SQL Architecture and Analytical Expertise</a:t>
            </a:r>
          </a:p>
        </p:txBody>
      </p:sp>
      <p:sp>
        <p:nvSpPr>
          <p:cNvPr id="3" name="Content Placeholder 2">
            <a:extLst>
              <a:ext uri="{FF2B5EF4-FFF2-40B4-BE49-F238E27FC236}">
                <a16:creationId xmlns:a16="http://schemas.microsoft.com/office/drawing/2014/main" id="{6F1BE62B-E009-A6BC-F0C0-FCED389FD3E7}"/>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65776" y="704088"/>
            <a:ext cx="6394704" cy="5212080"/>
          </a:xfrm>
        </p:spPr>
        <p:txBody>
          <a:bodyPr>
            <a:normAutofit/>
          </a:bodyPr>
          <a:lstStyle/>
          <a:p>
            <a:pPr marL="0" indent="0">
              <a:spcBef>
                <a:spcPts val="2500"/>
              </a:spcBef>
              <a:buFont typeface="Arial" panose="020B0604020202020204" pitchFamily="34" charset="0"/>
              <a:buNone/>
            </a:pPr>
            <a:r>
              <a:rPr lang="en-US" b="1"/>
              <a:t>Advanced SQL Techniques</a:t>
            </a:r>
          </a:p>
          <a:p>
            <a:pPr marL="0" lvl="1" indent="0">
              <a:buFont typeface="Arial" panose="020B0604020202020204" pitchFamily="34" charset="0"/>
              <a:buNone/>
            </a:pPr>
            <a:r>
              <a:t>Utilizes CTEs, aggregation pipelines, CASE statements, and join optimization for robust SQL architecture.</a:t>
            </a:r>
            <a:endParaRPr lang="en-US"/>
          </a:p>
          <a:p>
            <a:pPr marL="0" indent="0">
              <a:spcBef>
                <a:spcPts val="2500"/>
              </a:spcBef>
              <a:buFont typeface="Arial" panose="020B0604020202020204" pitchFamily="34" charset="0"/>
              <a:buNone/>
            </a:pPr>
            <a:r>
              <a:rPr lang="en-US" b="1"/>
              <a:t>Data Integrity in KPIs</a:t>
            </a:r>
          </a:p>
          <a:p>
            <a:pPr marL="0" lvl="1" indent="0">
              <a:buFont typeface="Arial" panose="020B0604020202020204" pitchFamily="34" charset="0"/>
              <a:buNone/>
            </a:pPr>
            <a:r>
              <a:t>Null-safe division and date functions ensure accurate KPI calculations and reliable business metrics.</a:t>
            </a:r>
            <a:endParaRPr lang="en-US"/>
          </a:p>
          <a:p>
            <a:pPr marL="0" indent="0">
              <a:spcBef>
                <a:spcPts val="2500"/>
              </a:spcBef>
              <a:buFont typeface="Arial" panose="020B0604020202020204" pitchFamily="34" charset="0"/>
              <a:buNone/>
            </a:pPr>
            <a:r>
              <a:rPr lang="en-US" b="1"/>
              <a:t>Analytical Expertise</a:t>
            </a:r>
          </a:p>
          <a:p>
            <a:pPr marL="0" lvl="1" indent="0">
              <a:buFont typeface="Arial" panose="020B0604020202020204" pitchFamily="34" charset="0"/>
              <a:buNone/>
            </a:pPr>
            <a:r>
              <a:t>Expertise in KPI engineering, segmentation, clustering, and temporal modeling transforms data into insights.</a:t>
            </a:r>
            <a:endParaRPr lang="en-US"/>
          </a:p>
          <a:p>
            <a:pPr marL="0" indent="0">
              <a:spcBef>
                <a:spcPts val="2500"/>
              </a:spcBef>
              <a:buFont typeface="Arial" panose="020B0604020202020204" pitchFamily="34" charset="0"/>
              <a:buNone/>
            </a:pPr>
            <a:r>
              <a:rPr lang="en-US" b="1"/>
              <a:t>Scalable Enterprise Analytics</a:t>
            </a:r>
          </a:p>
          <a:p>
            <a:pPr marL="0" lvl="1" indent="0">
              <a:buFont typeface="Arial" panose="020B0604020202020204" pitchFamily="34" charset="0"/>
              <a:buNone/>
            </a:pPr>
            <a:r>
              <a:t>SQL analytics scale into enterprise systems with dashboards, churn prediction, and cohort survival analysis.</a:t>
            </a:r>
            <a:endParaRPr lang="en-US"/>
          </a:p>
        </p:txBody>
      </p:sp>
    </p:spTree>
    <p:extLst>
      <p:ext uri="{BB962C8B-B14F-4D97-AF65-F5344CB8AC3E}">
        <p14:creationId xmlns:p14="http://schemas.microsoft.com/office/powerpoint/2010/main" val="6944022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E753F6F-88D8-493D-A089-0923419088E5}">
  <ds:schemaRefs>
    <ds:schemaRef ds:uri="http://schemas.microsoft.com/sharepoint/v3/contenttype/forms"/>
  </ds:schemaRefs>
</ds:datastoreItem>
</file>

<file path=customXml/itemProps2.xml><?xml version="1.0" encoding="utf-8"?>
<ds:datastoreItem xmlns:ds="http://schemas.openxmlformats.org/officeDocument/2006/customXml" ds:itemID="{5D279CDD-1FB7-427E-9208-ECF0EB941A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04CAC9-4DB9-48D9-8A6F-3675D14127D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GradientRise</Template>
  <TotalTime>123</TotalTime>
  <Words>4</Words>
  <Application>Microsoft Office PowerPoint</Application>
  <PresentationFormat>Widescreen</PresentationFormat>
  <Paragraphs>2</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GradientRise</vt:lpstr>
      <vt:lpstr>Advanced SQL Analytics for Real-World Customer &amp; Product Insights</vt:lpstr>
      <vt:lpstr>Introduction</vt:lpstr>
      <vt:lpstr>Overview of Analytical Framework</vt:lpstr>
      <vt:lpstr>Analytical Philosophy</vt:lpstr>
      <vt:lpstr>Principles of Data Storytelling</vt:lpstr>
      <vt:lpstr>Data Model – Fact &amp; Dimension</vt:lpstr>
      <vt:lpstr>Kimball-Style Architecture</vt:lpstr>
      <vt:lpstr>Customer Analytics Insights</vt:lpstr>
      <vt:lpstr>Segmentation and Behavioral Metrics</vt:lpstr>
      <vt:lpstr>Product Analytics Insights</vt:lpstr>
      <vt:lpstr>Performance and Pricing Intelligence</vt:lpstr>
      <vt:lpstr>Temporal &amp; Ranking Analysis</vt:lpstr>
      <vt:lpstr>Seasonality, Rankings, and Growth Patterns</vt:lpstr>
      <vt:lpstr>From SQL to Decision Impact</vt:lpstr>
      <vt:lpstr>Business Outcomes Enabled by Analytics</vt:lpstr>
      <vt:lpstr>Technical Skills &amp; Conclusion</vt:lpstr>
      <vt:lpstr>SQL Architecture and Analytical Expertise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3</cp:revision>
  <dcterms:created xsi:type="dcterms:W3CDTF">2025-08-21T17:09:02Z</dcterms:created>
  <dcterms:modified xsi:type="dcterms:W3CDTF">2025-11-30T23:57:43Z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